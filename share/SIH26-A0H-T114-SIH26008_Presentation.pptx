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5" r:id="rId5"/>
    <p:sldId id="294" r:id="rId6"/>
    <p:sldId id="25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0000"/>
    <a:srgbClr val="9BBB59"/>
    <a:srgbClr val="39B0D4"/>
    <a:srgbClr val="727272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9FA593-AB12-4D14-9FF7-61DA79AA988B}" v="20" dt="2026-08-30T11:03:11.6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934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157" y="43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rihari S P" userId="6b2259e53d7225fd" providerId="LiveId" clId="{6C29CEB2-DCAF-4366-8A36-D084BC61BB11}"/>
    <pc:docChg chg="undo custSel addSld delSld modSld">
      <pc:chgData name="Shrihari S P" userId="6b2259e53d7225fd" providerId="LiveId" clId="{6C29CEB2-DCAF-4366-8A36-D084BC61BB11}" dt="2026-08-30T11:03:26.936" v="625" actId="1076"/>
      <pc:docMkLst>
        <pc:docMk/>
      </pc:docMkLst>
      <pc:sldChg chg="addSp delSp modSp add mod">
        <pc:chgData name="Shrihari S P" userId="6b2259e53d7225fd" providerId="LiveId" clId="{6C29CEB2-DCAF-4366-8A36-D084BC61BB11}" dt="2026-08-30T11:03:26.936" v="625" actId="1076"/>
        <pc:sldMkLst>
          <pc:docMk/>
          <pc:sldMk cId="0" sldId="256"/>
        </pc:sldMkLst>
        <pc:spChg chg="del">
          <ac:chgData name="Shrihari S P" userId="6b2259e53d7225fd" providerId="LiveId" clId="{6C29CEB2-DCAF-4366-8A36-D084BC61BB11}" dt="2026-08-30T11:03:15.212" v="623" actId="478"/>
          <ac:spMkLst>
            <pc:docMk/>
            <pc:sldMk cId="0" sldId="256"/>
            <ac:spMk id="3" creationId="{00000000-0000-0000-0000-000000000000}"/>
          </ac:spMkLst>
        </pc:spChg>
        <pc:picChg chg="add mod">
          <ac:chgData name="Shrihari S P" userId="6b2259e53d7225fd" providerId="LiveId" clId="{6C29CEB2-DCAF-4366-8A36-D084BC61BB11}" dt="2026-08-30T11:03:26.936" v="625" actId="1076"/>
          <ac:picMkLst>
            <pc:docMk/>
            <pc:sldMk cId="0" sldId="256"/>
            <ac:picMk id="46" creationId="{E1F08AE0-CDC3-375B-5BBC-5C1417D8E45E}"/>
          </ac:picMkLst>
        </pc:picChg>
      </pc:sldChg>
      <pc:sldChg chg="addSp delSp modSp add del mod">
        <pc:chgData name="Shrihari S P" userId="6b2259e53d7225fd" providerId="LiveId" clId="{6C29CEB2-DCAF-4366-8A36-D084BC61BB11}" dt="2026-08-30T06:48:44.603" v="619" actId="47"/>
        <pc:sldMkLst>
          <pc:docMk/>
          <pc:sldMk cId="2997144140" sldId="294"/>
        </pc:sldMkLst>
        <pc:spChg chg="add mod">
          <ac:chgData name="Shrihari S P" userId="6b2259e53d7225fd" providerId="LiveId" clId="{6C29CEB2-DCAF-4366-8A36-D084BC61BB11}" dt="2026-08-30T06:10:39.878" v="49" actId="1076"/>
          <ac:spMkLst>
            <pc:docMk/>
            <pc:sldMk cId="2997144140" sldId="294"/>
            <ac:spMk id="2" creationId="{30A49E18-590D-5CE7-44BE-6408033BC573}"/>
          </ac:spMkLst>
        </pc:spChg>
        <pc:spChg chg="mod">
          <ac:chgData name="Shrihari S P" userId="6b2259e53d7225fd" providerId="LiveId" clId="{6C29CEB2-DCAF-4366-8A36-D084BC61BB11}" dt="2026-08-30T06:16:21.766" v="139" actId="20577"/>
          <ac:spMkLst>
            <pc:docMk/>
            <pc:sldMk cId="2997144140" sldId="294"/>
            <ac:spMk id="3" creationId="{6EE4B050-6761-0CC1-0206-CA78B763C169}"/>
          </ac:spMkLst>
        </pc:spChg>
        <pc:spChg chg="add mod">
          <ac:chgData name="Shrihari S P" userId="6b2259e53d7225fd" providerId="LiveId" clId="{6C29CEB2-DCAF-4366-8A36-D084BC61BB11}" dt="2026-08-30T06:17:07.363" v="148" actId="1076"/>
          <ac:spMkLst>
            <pc:docMk/>
            <pc:sldMk cId="2997144140" sldId="294"/>
            <ac:spMk id="21" creationId="{E9307D8D-B7E3-A091-493C-5E76495B89CD}"/>
          </ac:spMkLst>
        </pc:spChg>
        <pc:spChg chg="add del">
          <ac:chgData name="Shrihari S P" userId="6b2259e53d7225fd" providerId="LiveId" clId="{6C29CEB2-DCAF-4366-8A36-D084BC61BB11}" dt="2026-08-30T06:09:58.161" v="38" actId="11529"/>
          <ac:spMkLst>
            <pc:docMk/>
            <pc:sldMk cId="2997144140" sldId="294"/>
            <ac:spMk id="22" creationId="{B6B17CBA-C45F-2C1E-165F-EA83696D52F0}"/>
          </ac:spMkLst>
        </pc:spChg>
        <pc:spChg chg="add del">
          <ac:chgData name="Shrihari S P" userId="6b2259e53d7225fd" providerId="LiveId" clId="{6C29CEB2-DCAF-4366-8A36-D084BC61BB11}" dt="2026-08-30T06:10:03.176" v="40" actId="478"/>
          <ac:spMkLst>
            <pc:docMk/>
            <pc:sldMk cId="2997144140" sldId="294"/>
            <ac:spMk id="23" creationId="{6E4F7129-90BD-F552-9845-60FD87718059}"/>
          </ac:spMkLst>
        </pc:spChg>
        <pc:spChg chg="add mod">
          <ac:chgData name="Shrihari S P" userId="6b2259e53d7225fd" providerId="LiveId" clId="{6C29CEB2-DCAF-4366-8A36-D084BC61BB11}" dt="2026-08-30T06:16:51.339" v="146" actId="1076"/>
          <ac:spMkLst>
            <pc:docMk/>
            <pc:sldMk cId="2997144140" sldId="294"/>
            <ac:spMk id="25" creationId="{AA299285-9BE7-00F6-5F06-CF3707D17542}"/>
          </ac:spMkLst>
        </pc:spChg>
        <pc:spChg chg="add mod">
          <ac:chgData name="Shrihari S P" userId="6b2259e53d7225fd" providerId="LiveId" clId="{6C29CEB2-DCAF-4366-8A36-D084BC61BB11}" dt="2026-08-30T06:16:58.237" v="147" actId="1076"/>
          <ac:spMkLst>
            <pc:docMk/>
            <pc:sldMk cId="2997144140" sldId="294"/>
            <ac:spMk id="27" creationId="{54A63D88-EDD9-73EA-5D09-858F7D47882F}"/>
          </ac:spMkLst>
        </pc:spChg>
        <pc:spChg chg="add mod">
          <ac:chgData name="Shrihari S P" userId="6b2259e53d7225fd" providerId="LiveId" clId="{6C29CEB2-DCAF-4366-8A36-D084BC61BB11}" dt="2026-08-30T06:16:43.937" v="145" actId="113"/>
          <ac:spMkLst>
            <pc:docMk/>
            <pc:sldMk cId="2997144140" sldId="294"/>
            <ac:spMk id="29" creationId="{A3018528-C92B-8372-98B2-1244F77A6585}"/>
          </ac:spMkLst>
        </pc:spChg>
        <pc:spChg chg="add mod">
          <ac:chgData name="Shrihari S P" userId="6b2259e53d7225fd" providerId="LiveId" clId="{6C29CEB2-DCAF-4366-8A36-D084BC61BB11}" dt="2026-08-30T06:12:23.661" v="77" actId="33987"/>
          <ac:spMkLst>
            <pc:docMk/>
            <pc:sldMk cId="2997144140" sldId="294"/>
            <ac:spMk id="30" creationId="{263040F5-E0C7-B354-90B4-6E7CCD71E42D}"/>
          </ac:spMkLst>
        </pc:spChg>
        <pc:spChg chg="add mod">
          <ac:chgData name="Shrihari S P" userId="6b2259e53d7225fd" providerId="LiveId" clId="{6C29CEB2-DCAF-4366-8A36-D084BC61BB11}" dt="2026-08-30T06:12:41.272" v="81" actId="33987"/>
          <ac:spMkLst>
            <pc:docMk/>
            <pc:sldMk cId="2997144140" sldId="294"/>
            <ac:spMk id="31" creationId="{E7FB1107-30E5-2271-9711-4C029A6461D1}"/>
          </ac:spMkLst>
        </pc:spChg>
        <pc:spChg chg="add mod">
          <ac:chgData name="Shrihari S P" userId="6b2259e53d7225fd" providerId="LiveId" clId="{6C29CEB2-DCAF-4366-8A36-D084BC61BB11}" dt="2026-08-30T06:13:49.038" v="116" actId="33987"/>
          <ac:spMkLst>
            <pc:docMk/>
            <pc:sldMk cId="2997144140" sldId="294"/>
            <ac:spMk id="32" creationId="{D2E7A9F7-5324-C572-6F90-B0F59CD885B5}"/>
          </ac:spMkLst>
        </pc:spChg>
        <pc:spChg chg="add mod">
          <ac:chgData name="Shrihari S P" userId="6b2259e53d7225fd" providerId="LiveId" clId="{6C29CEB2-DCAF-4366-8A36-D084BC61BB11}" dt="2026-08-30T06:14:26.113" v="121" actId="33987"/>
          <ac:spMkLst>
            <pc:docMk/>
            <pc:sldMk cId="2997144140" sldId="294"/>
            <ac:spMk id="33" creationId="{6724C724-AB1C-5907-B40C-4E6506C8AD4C}"/>
          </ac:spMkLst>
        </pc:spChg>
        <pc:spChg chg="add mod">
          <ac:chgData name="Shrihari S P" userId="6b2259e53d7225fd" providerId="LiveId" clId="{6C29CEB2-DCAF-4366-8A36-D084BC61BB11}" dt="2026-08-30T06:15:39.653" v="128" actId="33987"/>
          <ac:spMkLst>
            <pc:docMk/>
            <pc:sldMk cId="2997144140" sldId="294"/>
            <ac:spMk id="34" creationId="{9986E964-B52F-F031-7DBA-D9A2196C5AB2}"/>
          </ac:spMkLst>
        </pc:spChg>
        <pc:spChg chg="add mod">
          <ac:chgData name="Shrihari S P" userId="6b2259e53d7225fd" providerId="LiveId" clId="{6C29CEB2-DCAF-4366-8A36-D084BC61BB11}" dt="2026-08-30T06:16:39.599" v="143" actId="33987"/>
          <ac:spMkLst>
            <pc:docMk/>
            <pc:sldMk cId="2997144140" sldId="294"/>
            <ac:spMk id="35" creationId="{73D22C5F-E357-C4EB-8938-67BFFDA8F75E}"/>
          </ac:spMkLst>
        </pc:spChg>
        <pc:spChg chg="add del">
          <ac:chgData name="Shrihari S P" userId="6b2259e53d7225fd" providerId="LiveId" clId="{6C29CEB2-DCAF-4366-8A36-D084BC61BB11}" dt="2026-08-30T06:19:13.597" v="151" actId="22"/>
          <ac:spMkLst>
            <pc:docMk/>
            <pc:sldMk cId="2997144140" sldId="294"/>
            <ac:spMk id="37" creationId="{1A39C349-64F8-45E2-5C04-1C8C8A466488}"/>
          </ac:spMkLst>
        </pc:spChg>
        <pc:picChg chg="del">
          <ac:chgData name="Shrihari S P" userId="6b2259e53d7225fd" providerId="LiveId" clId="{6C29CEB2-DCAF-4366-8A36-D084BC61BB11}" dt="2026-08-30T06:07:59.081" v="0" actId="478"/>
          <ac:picMkLst>
            <pc:docMk/>
            <pc:sldMk cId="2997144140" sldId="294"/>
            <ac:picMk id="5" creationId="{F7DBCAC2-3492-DA61-B811-7582F255A06C}"/>
          </ac:picMkLst>
        </pc:picChg>
        <pc:cxnChg chg="add mod">
          <ac:chgData name="Shrihari S P" userId="6b2259e53d7225fd" providerId="LiveId" clId="{6C29CEB2-DCAF-4366-8A36-D084BC61BB11}" dt="2026-08-30T06:10:39.878" v="49" actId="1076"/>
          <ac:cxnSpMkLst>
            <pc:docMk/>
            <pc:sldMk cId="2997144140" sldId="294"/>
            <ac:cxnSpMk id="8" creationId="{262D0AAE-F02F-3E97-964E-CF9092976F73}"/>
          </ac:cxnSpMkLst>
        </pc:cxnChg>
        <pc:cxnChg chg="add mod">
          <ac:chgData name="Shrihari S P" userId="6b2259e53d7225fd" providerId="LiveId" clId="{6C29CEB2-DCAF-4366-8A36-D084BC61BB11}" dt="2026-08-30T06:10:39.878" v="49" actId="1076"/>
          <ac:cxnSpMkLst>
            <pc:docMk/>
            <pc:sldMk cId="2997144140" sldId="294"/>
            <ac:cxnSpMk id="14" creationId="{27FE3DD1-5070-24A7-E09B-6725A737657C}"/>
          </ac:cxnSpMkLst>
        </pc:cxnChg>
        <pc:cxnChg chg="add mod">
          <ac:chgData name="Shrihari S P" userId="6b2259e53d7225fd" providerId="LiveId" clId="{6C29CEB2-DCAF-4366-8A36-D084BC61BB11}" dt="2026-08-30T06:10:39.878" v="49" actId="1076"/>
          <ac:cxnSpMkLst>
            <pc:docMk/>
            <pc:sldMk cId="2997144140" sldId="294"/>
            <ac:cxnSpMk id="16" creationId="{E81A9797-307B-6E4F-CAFC-A753C7E75D95}"/>
          </ac:cxnSpMkLst>
        </pc:cxnChg>
        <pc:cxnChg chg="add mod">
          <ac:chgData name="Shrihari S P" userId="6b2259e53d7225fd" providerId="LiveId" clId="{6C29CEB2-DCAF-4366-8A36-D084BC61BB11}" dt="2026-08-30T06:10:39.878" v="49" actId="1076"/>
          <ac:cxnSpMkLst>
            <pc:docMk/>
            <pc:sldMk cId="2997144140" sldId="294"/>
            <ac:cxnSpMk id="19" creationId="{D9362C25-EAA4-D511-FDFA-4B1E330D5486}"/>
          </ac:cxnSpMkLst>
        </pc:cxnChg>
      </pc:sldChg>
      <pc:sldChg chg="addSp modSp add del mod">
        <pc:chgData name="Shrihari S P" userId="6b2259e53d7225fd" providerId="LiveId" clId="{6C29CEB2-DCAF-4366-8A36-D084BC61BB11}" dt="2026-08-30T11:03:09.813" v="621" actId="47"/>
        <pc:sldMkLst>
          <pc:docMk/>
          <pc:sldMk cId="3916788613" sldId="296"/>
        </pc:sldMkLst>
        <pc:spChg chg="add mod">
          <ac:chgData name="Shrihari S P" userId="6b2259e53d7225fd" providerId="LiveId" clId="{6C29CEB2-DCAF-4366-8A36-D084BC61BB11}" dt="2026-08-30T06:22:18.725" v="614" actId="20577"/>
          <ac:spMkLst>
            <pc:docMk/>
            <pc:sldMk cId="3916788613" sldId="296"/>
            <ac:spMk id="5" creationId="{1DD4F960-FEB4-6D98-85F1-18DE50850C01}"/>
          </ac:spMkLst>
        </pc:spChg>
        <pc:picChg chg="add">
          <ac:chgData name="Shrihari S P" userId="6b2259e53d7225fd" providerId="LiveId" clId="{6C29CEB2-DCAF-4366-8A36-D084BC61BB11}" dt="2026-08-30T06:19:59" v="153" actId="22"/>
          <ac:picMkLst>
            <pc:docMk/>
            <pc:sldMk cId="3916788613" sldId="296"/>
            <ac:picMk id="3" creationId="{65D7F903-7B46-4998-2C5D-7BF5BB18E75E}"/>
          </ac:picMkLst>
        </pc:picChg>
      </pc:sldChg>
      <pc:sldChg chg="new del">
        <pc:chgData name="Shrihari S P" userId="6b2259e53d7225fd" providerId="LiveId" clId="{6C29CEB2-DCAF-4366-8A36-D084BC61BB11}" dt="2026-08-30T06:48:42.290" v="616" actId="47"/>
        <pc:sldMkLst>
          <pc:docMk/>
          <pc:sldMk cId="307210734" sldId="297"/>
        </pc:sldMkLst>
      </pc:sldChg>
      <pc:sldChg chg="del">
        <pc:chgData name="Shrihari S P" userId="6b2259e53d7225fd" providerId="LiveId" clId="{6C29CEB2-DCAF-4366-8A36-D084BC61BB11}" dt="2026-08-30T06:19:09.975" v="149" actId="47"/>
        <pc:sldMkLst>
          <pc:docMk/>
          <pc:sldMk cId="1979787910" sldId="29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8/30/2026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 dirty="0"/>
          </a:p>
        </p:txBody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 dirty="0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790738-CFC9-4A5E-8424-6B42AA5706F7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96756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 dirty="0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8/30/2026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8/30/2026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8/30/2026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8/30/2026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8/30/2026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8/30/2026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229278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Belt Joint Rupture and Conveyor Belt Damages in Iron Ore Mining Industry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07730" y="1450040"/>
            <a:ext cx="6447161" cy="5425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–26008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             	       </a:t>
            </a:r>
            <a:r>
              <a:rPr lang="en-IN" sz="2400" b="1" dirty="0"/>
              <a:t>Belt Joint Rupture &amp; Damage in Iron Ore Mines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lang="en-IN" sz="2400" b="1" dirty="0"/>
              <a:t>AI-Based Conveyor Belt Monitoring 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Hardware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 SIH26-A0H-T114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Name- Sergio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550D576-59C4-2139-4036-14FEAFB4F2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47" y="66669"/>
            <a:ext cx="1127439" cy="95118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-323512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PROPOSED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Idea submission- Template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DE0FA2-694B-08B5-DBD7-0AA3816C39CF}"/>
              </a:ext>
            </a:extLst>
          </p:cNvPr>
          <p:cNvSpPr txBox="1"/>
          <p:nvPr/>
        </p:nvSpPr>
        <p:spPr>
          <a:xfrm>
            <a:off x="329773" y="1210580"/>
            <a:ext cx="377486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1DF1703-7707-9942-B8EB-1D7779B54C75}"/>
              </a:ext>
            </a:extLst>
          </p:cNvPr>
          <p:cNvSpPr/>
          <p:nvPr/>
        </p:nvSpPr>
        <p:spPr>
          <a:xfrm>
            <a:off x="329773" y="1117796"/>
            <a:ext cx="3708828" cy="5178751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            </a:t>
            </a:r>
            <a:r>
              <a:rPr lang="en-US" b="1" u="sng" dirty="0">
                <a:solidFill>
                  <a:schemeClr val="tx1"/>
                </a:solidFill>
              </a:rPr>
              <a:t>PROBLEM AT HAND</a:t>
            </a:r>
            <a:r>
              <a:rPr lang="en-US" b="1" dirty="0">
                <a:solidFill>
                  <a:schemeClr val="tx1"/>
                </a:solidFill>
              </a:rPr>
              <a:t> </a:t>
            </a:r>
          </a:p>
          <a:p>
            <a:r>
              <a:rPr lang="en-US" b="1" dirty="0">
                <a:solidFill>
                  <a:srgbClr val="FF0000"/>
                </a:solidFill>
              </a:rPr>
              <a:t>  Belt Joint Rupture :</a:t>
            </a:r>
          </a:p>
          <a:p>
            <a:r>
              <a:rPr lang="en-US" dirty="0"/>
              <a:t>	</a:t>
            </a:r>
            <a:r>
              <a:rPr lang="en-IN" sz="1700" dirty="0">
                <a:solidFill>
                  <a:schemeClr val="tx1"/>
                </a:solidFill>
              </a:rPr>
              <a:t>Sudden failure of belt joints leads to unplanned downtime, material spillage, equipment damage and safety hazards</a:t>
            </a:r>
            <a:r>
              <a:rPr lang="en-IN" dirty="0">
                <a:solidFill>
                  <a:schemeClr val="tx1"/>
                </a:solidFill>
              </a:rPr>
              <a:t>.</a:t>
            </a:r>
            <a:endParaRPr lang="en-IN" b="1" dirty="0">
              <a:solidFill>
                <a:schemeClr val="tx1"/>
              </a:solidFill>
            </a:endParaRPr>
          </a:p>
          <a:p>
            <a:r>
              <a:rPr lang="en-IN" b="1" dirty="0"/>
              <a:t> </a:t>
            </a:r>
            <a:r>
              <a:rPr lang="en-IN" b="1" dirty="0">
                <a:solidFill>
                  <a:srgbClr val="FF0000"/>
                </a:solidFill>
              </a:rPr>
              <a:t>Conveyor Belt Damages:</a:t>
            </a:r>
            <a:br>
              <a:rPr lang="en-IN" dirty="0"/>
            </a:br>
            <a:r>
              <a:rPr lang="en-IN" dirty="0"/>
              <a:t>	</a:t>
            </a:r>
            <a:r>
              <a:rPr lang="en-IN" sz="1700" dirty="0">
                <a:solidFill>
                  <a:schemeClr val="tx1"/>
                </a:solidFill>
              </a:rPr>
              <a:t>Cracks, cuts, tears, and edge wear go undetected in time, resulting in costly breakdowns.</a:t>
            </a:r>
            <a:endParaRPr lang="en-IN" sz="1700" b="1" dirty="0">
              <a:solidFill>
                <a:schemeClr val="tx1"/>
              </a:solidFill>
            </a:endParaRPr>
          </a:p>
          <a:p>
            <a:r>
              <a:rPr lang="en-IN" b="1" dirty="0"/>
              <a:t> </a:t>
            </a:r>
            <a:r>
              <a:rPr lang="en-IN" b="1" dirty="0">
                <a:solidFill>
                  <a:srgbClr val="FF0000"/>
                </a:solidFill>
              </a:rPr>
              <a:t>High Downtime &amp; Losses:</a:t>
            </a:r>
            <a:br>
              <a:rPr lang="en-IN" dirty="0"/>
            </a:br>
            <a:r>
              <a:rPr lang="en-IN" dirty="0"/>
              <a:t>	</a:t>
            </a:r>
            <a:r>
              <a:rPr lang="en-IN" sz="1700" dirty="0">
                <a:solidFill>
                  <a:schemeClr val="tx1"/>
                </a:solidFill>
              </a:rPr>
              <a:t>Unplanned shutdowns disrupt production and increase maintenance &amp; operational costs significantly</a:t>
            </a:r>
            <a:r>
              <a:rPr lang="en-IN" dirty="0">
                <a:solidFill>
                  <a:schemeClr val="tx1"/>
                </a:solidFill>
              </a:rPr>
              <a:t>.</a:t>
            </a:r>
            <a:endParaRPr lang="en-IN" b="1" dirty="0">
              <a:solidFill>
                <a:schemeClr val="tx1"/>
              </a:solidFill>
            </a:endParaRPr>
          </a:p>
          <a:p>
            <a:r>
              <a:rPr lang="en-IN" b="1" dirty="0"/>
              <a:t> </a:t>
            </a:r>
            <a:r>
              <a:rPr lang="en-IN" b="1" dirty="0">
                <a:solidFill>
                  <a:srgbClr val="FF0000"/>
                </a:solidFill>
              </a:rPr>
              <a:t>Safety Risks:</a:t>
            </a:r>
            <a:br>
              <a:rPr lang="en-IN" dirty="0"/>
            </a:br>
            <a:r>
              <a:rPr lang="en-IN" dirty="0"/>
              <a:t>	</a:t>
            </a:r>
            <a:r>
              <a:rPr lang="en-IN" sz="1700" dirty="0">
                <a:solidFill>
                  <a:schemeClr val="tx1"/>
                </a:solidFill>
              </a:rPr>
              <a:t>Belt failures endanger workers and damage costly assets, affecting       overall mine safety.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23170C-D89E-906E-DBAA-F6A2486E8644}"/>
              </a:ext>
            </a:extLst>
          </p:cNvPr>
          <p:cNvSpPr txBox="1"/>
          <p:nvPr/>
        </p:nvSpPr>
        <p:spPr>
          <a:xfrm>
            <a:off x="5563234" y="860652"/>
            <a:ext cx="1715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OUR SOLUTION </a:t>
            </a:r>
            <a:endParaRPr lang="en-IN" b="1" u="sng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0E8295E-CB8D-F905-F2BF-6C3B561F6DE3}"/>
              </a:ext>
            </a:extLst>
          </p:cNvPr>
          <p:cNvSpPr/>
          <p:nvPr/>
        </p:nvSpPr>
        <p:spPr>
          <a:xfrm>
            <a:off x="4104640" y="4209345"/>
            <a:ext cx="4632960" cy="1901068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6BF289-D1F0-2E91-3438-4E4D57494E18}"/>
              </a:ext>
            </a:extLst>
          </p:cNvPr>
          <p:cNvSpPr txBox="1"/>
          <p:nvPr/>
        </p:nvSpPr>
        <p:spPr>
          <a:xfrm>
            <a:off x="5266482" y="3780330"/>
            <a:ext cx="28869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u="sng" dirty="0"/>
              <a:t>Why We Stand Out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F87DF7-0735-B547-2E90-4C257C12632E}"/>
              </a:ext>
            </a:extLst>
          </p:cNvPr>
          <p:cNvSpPr txBox="1"/>
          <p:nvPr/>
        </p:nvSpPr>
        <p:spPr>
          <a:xfrm>
            <a:off x="9780086" y="1109017"/>
            <a:ext cx="1458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u="sng" dirty="0"/>
              <a:t>Key Features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57690B2-37F4-34E2-93C0-47C24522747D}"/>
              </a:ext>
            </a:extLst>
          </p:cNvPr>
          <p:cNvSpPr/>
          <p:nvPr/>
        </p:nvSpPr>
        <p:spPr>
          <a:xfrm>
            <a:off x="8924081" y="1487128"/>
            <a:ext cx="3105855" cy="4809419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111211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B883B1-A8B6-2DC7-A00B-E1EB0A4A06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6322" y="1253850"/>
            <a:ext cx="4771720" cy="245612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EB7DE1-AF94-7BD0-BD2A-02AB51FE2A82}"/>
              </a:ext>
            </a:extLst>
          </p:cNvPr>
          <p:cNvSpPr txBox="1"/>
          <p:nvPr/>
        </p:nvSpPr>
        <p:spPr>
          <a:xfrm>
            <a:off x="9153833" y="1641988"/>
            <a:ext cx="2708394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solidFill>
                  <a:srgbClr val="FF0000"/>
                </a:solidFill>
              </a:rPr>
              <a:t>DAS + DTS :</a:t>
            </a:r>
          </a:p>
          <a:p>
            <a:r>
              <a:rPr lang="en-IN" dirty="0"/>
              <a:t>	</a:t>
            </a:r>
            <a:r>
              <a:rPr lang="en-IN" sz="1600" dirty="0"/>
              <a:t>Optical-fibre sensing line to detect the vibration and temperature.</a:t>
            </a:r>
          </a:p>
          <a:p>
            <a:r>
              <a:rPr lang="en-IN" sz="1600" b="1" dirty="0">
                <a:solidFill>
                  <a:srgbClr val="FF0000"/>
                </a:solidFill>
              </a:rPr>
              <a:t>Global-Shutter Area Camera “</a:t>
            </a:r>
            <a:r>
              <a:rPr lang="en-IN" sz="1400" b="1" dirty="0">
                <a:solidFill>
                  <a:srgbClr val="FF0000"/>
                </a:solidFill>
              </a:rPr>
              <a:t>ETPL UA5MEAGV-50M</a:t>
            </a:r>
            <a:r>
              <a:rPr lang="en-IN" sz="1600" b="1" dirty="0">
                <a:solidFill>
                  <a:srgbClr val="FF0000"/>
                </a:solidFill>
              </a:rPr>
              <a:t>” </a:t>
            </a:r>
            <a:r>
              <a:rPr lang="en-IN" b="1" dirty="0">
                <a:solidFill>
                  <a:srgbClr val="FF0000"/>
                </a:solidFill>
              </a:rPr>
              <a:t>:</a:t>
            </a:r>
          </a:p>
          <a:p>
            <a:r>
              <a:rPr lang="en-IN" b="1" dirty="0"/>
              <a:t>	</a:t>
            </a:r>
            <a:r>
              <a:rPr lang="en-IN" sz="1600" dirty="0"/>
              <a:t>Placing a camera on the belt gives a clear view of cuts , tears and cracks.</a:t>
            </a:r>
            <a:endParaRPr lang="en-IN" dirty="0"/>
          </a:p>
          <a:p>
            <a:r>
              <a:rPr lang="en-IN" b="1" dirty="0">
                <a:solidFill>
                  <a:srgbClr val="FF0000"/>
                </a:solidFill>
              </a:rPr>
              <a:t>Speed Sensor :</a:t>
            </a:r>
            <a:r>
              <a:rPr lang="en-IN" dirty="0">
                <a:solidFill>
                  <a:srgbClr val="FF0000"/>
                </a:solidFill>
              </a:rPr>
              <a:t> </a:t>
            </a:r>
          </a:p>
          <a:p>
            <a:r>
              <a:rPr lang="en-IN" b="1" dirty="0"/>
              <a:t>	</a:t>
            </a:r>
            <a:r>
              <a:rPr lang="en-IN" dirty="0"/>
              <a:t>Real-time belt speed provides operating context for the AI model.</a:t>
            </a:r>
          </a:p>
          <a:p>
            <a:r>
              <a:rPr lang="en-IN" b="1" dirty="0">
                <a:solidFill>
                  <a:srgbClr val="FF0000"/>
                </a:solidFill>
              </a:rPr>
              <a:t>AI/ML +IoT :</a:t>
            </a:r>
          </a:p>
          <a:p>
            <a:r>
              <a:rPr lang="en-IN" sz="1600" dirty="0"/>
              <a:t>	Analyses sensor data alongside historical records to identify damage and predict failures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B3EBC-AA51-B3D3-44C9-7AC01970DC42}"/>
              </a:ext>
            </a:extLst>
          </p:cNvPr>
          <p:cNvSpPr txBox="1"/>
          <p:nvPr/>
        </p:nvSpPr>
        <p:spPr>
          <a:xfrm>
            <a:off x="4286865" y="4395019"/>
            <a:ext cx="431636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b="1" dirty="0">
                <a:solidFill>
                  <a:srgbClr val="FF0000"/>
                </a:solidFill>
              </a:rPr>
              <a:t>Continuous Monitoring:</a:t>
            </a:r>
            <a:r>
              <a:rPr lang="en-IN" dirty="0">
                <a:solidFill>
                  <a:srgbClr val="FF0000"/>
                </a:solidFill>
              </a:rPr>
              <a:t> </a:t>
            </a:r>
            <a:r>
              <a:rPr lang="en-IN" sz="1600" dirty="0"/>
              <a:t>DAS + DTS monitor the belt continuously. </a:t>
            </a:r>
            <a:endParaRPr lang="en-IN" dirty="0"/>
          </a:p>
          <a:p>
            <a:pPr lvl="0"/>
            <a:r>
              <a:rPr lang="en-IN" b="1" dirty="0">
                <a:solidFill>
                  <a:srgbClr val="FF0000"/>
                </a:solidFill>
              </a:rPr>
              <a:t>Clear Damage Detection:</a:t>
            </a:r>
            <a:r>
              <a:rPr lang="en-IN" dirty="0"/>
              <a:t> </a:t>
            </a:r>
            <a:r>
              <a:rPr lang="en-IN" sz="1600" dirty="0"/>
              <a:t>Bottom camera detects cracks, cuts &amp; tears. </a:t>
            </a:r>
            <a:endParaRPr lang="en-IN" dirty="0"/>
          </a:p>
          <a:p>
            <a:pPr lvl="0"/>
            <a:r>
              <a:rPr lang="en-IN" b="1" dirty="0">
                <a:solidFill>
                  <a:srgbClr val="FF0000"/>
                </a:solidFill>
              </a:rPr>
              <a:t>Predictive AI:</a:t>
            </a:r>
            <a:r>
              <a:rPr lang="en-IN" dirty="0"/>
              <a:t> </a:t>
            </a:r>
            <a:r>
              <a:rPr lang="en-IN" sz="1600" dirty="0"/>
              <a:t>AI/ML predicts belt health and failure risk</a:t>
            </a:r>
            <a:endParaRPr lang="en-IN" dirty="0"/>
          </a:p>
          <a:p>
            <a:endParaRPr lang="en-I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5857331-24AB-E81E-5A21-AE8E101C4B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713" y="102762"/>
            <a:ext cx="1229232" cy="8194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Idea submission- Template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877DDE1-47E4-99C2-D2B3-E36FA78A0CC4}"/>
              </a:ext>
            </a:extLst>
          </p:cNvPr>
          <p:cNvSpPr/>
          <p:nvPr/>
        </p:nvSpPr>
        <p:spPr>
          <a:xfrm>
            <a:off x="9173491" y="1769940"/>
            <a:ext cx="2025445" cy="45681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77C47C-8F77-D2A2-CE74-49ABB046622C}"/>
              </a:ext>
            </a:extLst>
          </p:cNvPr>
          <p:cNvSpPr/>
          <p:nvPr/>
        </p:nvSpPr>
        <p:spPr>
          <a:xfrm>
            <a:off x="9173492" y="2663829"/>
            <a:ext cx="2025445" cy="46347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A817C5-DB9F-72A3-9B01-9FF53FCE5C3A}"/>
              </a:ext>
            </a:extLst>
          </p:cNvPr>
          <p:cNvSpPr/>
          <p:nvPr/>
        </p:nvSpPr>
        <p:spPr>
          <a:xfrm>
            <a:off x="9173493" y="3608972"/>
            <a:ext cx="2025445" cy="47394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66F918-C109-0B5B-1068-06734E075919}"/>
              </a:ext>
            </a:extLst>
          </p:cNvPr>
          <p:cNvSpPr/>
          <p:nvPr/>
        </p:nvSpPr>
        <p:spPr>
          <a:xfrm>
            <a:off x="9173496" y="4519992"/>
            <a:ext cx="2025445" cy="41876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28E41FF-A515-40FA-CBEF-293E6E80A840}"/>
              </a:ext>
            </a:extLst>
          </p:cNvPr>
          <p:cNvSpPr/>
          <p:nvPr/>
        </p:nvSpPr>
        <p:spPr>
          <a:xfrm>
            <a:off x="9173496" y="5358051"/>
            <a:ext cx="2025445" cy="50323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C8E663-43B6-8E6B-C693-E1011CF2936F}"/>
              </a:ext>
            </a:extLst>
          </p:cNvPr>
          <p:cNvSpPr txBox="1"/>
          <p:nvPr/>
        </p:nvSpPr>
        <p:spPr>
          <a:xfrm>
            <a:off x="9479798" y="1257256"/>
            <a:ext cx="2025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rgbClr val="FF0000"/>
                </a:solidFill>
              </a:rPr>
              <a:t>FLOW CHART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BD6F7B-837F-837B-9C74-65E232FBEFE4}"/>
              </a:ext>
            </a:extLst>
          </p:cNvPr>
          <p:cNvSpPr txBox="1"/>
          <p:nvPr/>
        </p:nvSpPr>
        <p:spPr>
          <a:xfrm>
            <a:off x="9455614" y="1791259"/>
            <a:ext cx="1700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Sensor Unit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60CD82-A13B-69B9-A826-B5FF3FE40160}"/>
              </a:ext>
            </a:extLst>
          </p:cNvPr>
          <p:cNvSpPr txBox="1"/>
          <p:nvPr/>
        </p:nvSpPr>
        <p:spPr>
          <a:xfrm>
            <a:off x="9304593" y="2708427"/>
            <a:ext cx="1710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Data Acquisition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D9B825-CB7E-AE25-C5EC-10D3D6F04302}"/>
              </a:ext>
            </a:extLst>
          </p:cNvPr>
          <p:cNvSpPr txBox="1"/>
          <p:nvPr/>
        </p:nvSpPr>
        <p:spPr>
          <a:xfrm>
            <a:off x="9423099" y="3619447"/>
            <a:ext cx="2025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AI/ML Engine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713ABC-31C9-B49B-8629-09A743DA6960}"/>
              </a:ext>
            </a:extLst>
          </p:cNvPr>
          <p:cNvSpPr txBox="1"/>
          <p:nvPr/>
        </p:nvSpPr>
        <p:spPr>
          <a:xfrm>
            <a:off x="9380103" y="4529531"/>
            <a:ext cx="18520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IoT Monitoring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101D31-978B-4F32-FD5F-34AB8F0A879B}"/>
              </a:ext>
            </a:extLst>
          </p:cNvPr>
          <p:cNvSpPr txBox="1"/>
          <p:nvPr/>
        </p:nvSpPr>
        <p:spPr>
          <a:xfrm>
            <a:off x="9423099" y="5402699"/>
            <a:ext cx="1710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Alert &amp; Action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479BA2A-7619-2A85-8D55-0E66C16F24DF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10186214" y="2226757"/>
            <a:ext cx="1" cy="437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7144536-1A47-9924-4CD7-2F37647A2C08}"/>
              </a:ext>
            </a:extLst>
          </p:cNvPr>
          <p:cNvCxnSpPr>
            <a:stCxn id="5" idx="2"/>
            <a:endCxn id="8" idx="0"/>
          </p:cNvCxnSpPr>
          <p:nvPr/>
        </p:nvCxnSpPr>
        <p:spPr>
          <a:xfrm>
            <a:off x="10186215" y="3127302"/>
            <a:ext cx="1" cy="4816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FD53D50-DC37-1E08-0CEC-02A9C5F5835C}"/>
              </a:ext>
            </a:extLst>
          </p:cNvPr>
          <p:cNvCxnSpPr>
            <a:stCxn id="8" idx="2"/>
          </p:cNvCxnSpPr>
          <p:nvPr/>
        </p:nvCxnSpPr>
        <p:spPr>
          <a:xfrm>
            <a:off x="10186216" y="4082920"/>
            <a:ext cx="0" cy="4528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E2801C9-B3B8-8B57-D53C-1CFBFA7BD430}"/>
              </a:ext>
            </a:extLst>
          </p:cNvPr>
          <p:cNvCxnSpPr>
            <a:stCxn id="13" idx="2"/>
            <a:endCxn id="14" idx="0"/>
          </p:cNvCxnSpPr>
          <p:nvPr/>
        </p:nvCxnSpPr>
        <p:spPr>
          <a:xfrm>
            <a:off x="10186219" y="4938759"/>
            <a:ext cx="0" cy="4192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6138742-9AF4-EADB-13BF-E2F9500B720D}"/>
              </a:ext>
            </a:extLst>
          </p:cNvPr>
          <p:cNvSpPr txBox="1"/>
          <p:nvPr/>
        </p:nvSpPr>
        <p:spPr>
          <a:xfrm>
            <a:off x="471948" y="1095375"/>
            <a:ext cx="8421160" cy="5001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solidFill>
                  <a:srgbClr val="FF0000"/>
                </a:solidFill>
              </a:rPr>
              <a:t>SENSOR UNIT 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/>
              <a:t>DAS + DTS (Optical Fiber) provide distributed vibration and temperature monitoring along the conveyor.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/>
              <a:t>Bottom-side camera captures the returning belt surface to detect cracks, cuts, tears and edge wear.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/>
              <a:t>Speed sensor measures real-time belt speed for operational context</a:t>
            </a:r>
            <a:r>
              <a:rPr lang="en-IN" sz="1600" dirty="0"/>
              <a:t>.</a:t>
            </a:r>
            <a:r>
              <a:rPr lang="en-IN" dirty="0"/>
              <a:t> </a:t>
            </a:r>
          </a:p>
          <a:p>
            <a:r>
              <a:rPr lang="en-IN" sz="1600" b="1" dirty="0">
                <a:solidFill>
                  <a:srgbClr val="FF0000"/>
                </a:solidFill>
              </a:rPr>
              <a:t>DATA ACQUISITION 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Edge DAQ / Data Logger collects data from all sensors (DAS, DTS, Camera, Speed).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Time-synchronizes all inputs for accurate correlation.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Performs initial filtering, buffering and secure data transmission. </a:t>
            </a:r>
          </a:p>
          <a:p>
            <a:r>
              <a:rPr lang="en-IN" sz="1600" b="1" dirty="0">
                <a:solidFill>
                  <a:srgbClr val="FF0000"/>
                </a:solidFill>
              </a:rPr>
              <a:t>AI / ML ENGINE 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Multi-modal AI/ML model analyses fused sensor data and belt history.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Detects anomalies and assesses damage (location &amp; severity).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Predicts rupture risk with a probability score. </a:t>
            </a:r>
          </a:p>
          <a:p>
            <a:r>
              <a:rPr lang="en-IN" sz="1600" b="1" dirty="0">
                <a:solidFill>
                  <a:srgbClr val="FF0000"/>
                </a:solidFill>
              </a:rPr>
              <a:t>IoT MONITORING 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/>
              <a:t>Monitors the system in real time and displays its current condition as Normal, Warning, or Critical.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/>
              <a:t>Allows users to check previous data, view trends, generate reports, and monitor the system remotely.</a:t>
            </a:r>
            <a:endParaRPr lang="en-IN" sz="1500" dirty="0">
              <a:solidFill>
                <a:srgbClr val="FF0000"/>
              </a:solidFill>
            </a:endParaRPr>
          </a:p>
          <a:p>
            <a:r>
              <a:rPr lang="en-IN" sz="1600" b="1" dirty="0">
                <a:solidFill>
                  <a:srgbClr val="FF0000"/>
                </a:solidFill>
              </a:rPr>
              <a:t>ALERTS &amp; ACTION 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Instant alerts for abnormal conditions and high rupture risk . Maintenance recommendations for timely action. Planned maintenance reduces downtime and improves safety &amp; asset protection.</a:t>
            </a:r>
          </a:p>
          <a:p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4FEB2FD-60CA-D7E0-21B2-75AE0FACC8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713" y="102762"/>
            <a:ext cx="1229232" cy="8194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0654ADB-7734-AF71-9EBD-0922EF0CC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2FB580-6E60-7810-F527-7A4C8B109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5AFB3-1ACD-44AC-8702-86B1729DF035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30B97A-3E0E-0089-470E-56094E1BDB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D60823-39F5-B893-F9DF-738F91653E14}"/>
              </a:ext>
            </a:extLst>
          </p:cNvPr>
          <p:cNvSpPr txBox="1"/>
          <p:nvPr/>
        </p:nvSpPr>
        <p:spPr>
          <a:xfrm>
            <a:off x="487680" y="1757680"/>
            <a:ext cx="35560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Distributed Sensing: </a:t>
            </a:r>
            <a:r>
              <a:rPr lang="en-IN" sz="1600" dirty="0"/>
              <a:t>DAS + DTS optical fibre enables long-range vibration and temperature monitoring.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53A702-3518-4C0C-2AA9-4AF1F194B549}"/>
              </a:ext>
            </a:extLst>
          </p:cNvPr>
          <p:cNvSpPr txBox="1"/>
          <p:nvPr/>
        </p:nvSpPr>
        <p:spPr>
          <a:xfrm>
            <a:off x="487680" y="2763520"/>
            <a:ext cx="35560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Multi-Modal Detection:</a:t>
            </a:r>
            <a:r>
              <a:rPr lang="en-IN" sz="1600" dirty="0"/>
              <a:t> Bottom-side camera and speed sensing complement fibre-based measurements.</a:t>
            </a:r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5D24EB-D35B-AE31-35A6-D9F3172FB4DB}"/>
              </a:ext>
            </a:extLst>
          </p:cNvPr>
          <p:cNvSpPr txBox="1"/>
          <p:nvPr/>
        </p:nvSpPr>
        <p:spPr>
          <a:xfrm>
            <a:off x="487680" y="3674565"/>
            <a:ext cx="3556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Edge Integration:</a:t>
            </a:r>
            <a:r>
              <a:rPr lang="en-IN" sz="1600" dirty="0"/>
              <a:t> DAQ synchronizes and preprocesses sensor data before AI/ML analysis.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C67A3E-791D-47BF-1659-EB7064EE4818}"/>
              </a:ext>
            </a:extLst>
          </p:cNvPr>
          <p:cNvSpPr txBox="1"/>
          <p:nvPr/>
        </p:nvSpPr>
        <p:spPr>
          <a:xfrm>
            <a:off x="487680" y="4653280"/>
            <a:ext cx="3556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Predictive Analytics:</a:t>
            </a:r>
            <a:r>
              <a:rPr lang="en-IN" sz="1600" dirty="0"/>
              <a:t> AI/ML combines live signals with belt history for anomaly and failure prediction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C8C569-C991-C18E-12ED-13E793685F8A}"/>
              </a:ext>
            </a:extLst>
          </p:cNvPr>
          <p:cNvSpPr txBox="1"/>
          <p:nvPr/>
        </p:nvSpPr>
        <p:spPr>
          <a:xfrm>
            <a:off x="4460240" y="1757680"/>
            <a:ext cx="3464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Non-Intrusive Inspection:</a:t>
            </a:r>
            <a:r>
              <a:rPr lang="en-IN" sz="1600" dirty="0"/>
              <a:t> Bottom-side vision inspects the returning belt without interfering with ore transport.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76D060-7F70-0655-4CF7-1AFEE34E0BC3}"/>
              </a:ext>
            </a:extLst>
          </p:cNvPr>
          <p:cNvSpPr txBox="1"/>
          <p:nvPr/>
        </p:nvSpPr>
        <p:spPr>
          <a:xfrm>
            <a:off x="4460240" y="2763520"/>
            <a:ext cx="346456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Early Intervention:</a:t>
            </a:r>
            <a:r>
              <a:rPr lang="en-IN" sz="1600" dirty="0"/>
              <a:t> Abnormal conditions are identified before they develop into major failures. </a:t>
            </a:r>
          </a:p>
          <a:p>
            <a:endParaRPr lang="en-IN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AB892C-5988-AC19-E4FD-DB64B327FB55}"/>
              </a:ext>
            </a:extLst>
          </p:cNvPr>
          <p:cNvSpPr txBox="1"/>
          <p:nvPr/>
        </p:nvSpPr>
        <p:spPr>
          <a:xfrm>
            <a:off x="4460240" y="3674565"/>
            <a:ext cx="3464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Centralized Visibility:</a:t>
            </a:r>
            <a:r>
              <a:rPr lang="en-IN" sz="1600" dirty="0"/>
              <a:t> IoT dashboard provides belt health, trends and alerts to maintenance teams.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7A5366-CAC3-A6B6-A5EC-A82B2C366C2C}"/>
              </a:ext>
            </a:extLst>
          </p:cNvPr>
          <p:cNvSpPr txBox="1"/>
          <p:nvPr/>
        </p:nvSpPr>
        <p:spPr>
          <a:xfrm>
            <a:off x="4460240" y="4653280"/>
            <a:ext cx="3464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Maintenance Support:</a:t>
            </a:r>
            <a:r>
              <a:rPr lang="en-IN" sz="1600" dirty="0"/>
              <a:t> Historical data helps prioritize inspections, repairs and component replacement.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6650A3-FB37-E2A7-41F3-F3B06188ED68}"/>
              </a:ext>
            </a:extLst>
          </p:cNvPr>
          <p:cNvSpPr txBox="1"/>
          <p:nvPr/>
        </p:nvSpPr>
        <p:spPr>
          <a:xfrm>
            <a:off x="8402320" y="1757680"/>
            <a:ext cx="330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Modular Deployment:</a:t>
            </a:r>
            <a:r>
              <a:rPr lang="en-IN" sz="1600" dirty="0"/>
              <a:t> Start with one critical conveyor and expand across the mine.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E80916-8745-0AA8-F947-14FE335BE3F5}"/>
              </a:ext>
            </a:extLst>
          </p:cNvPr>
          <p:cNvSpPr txBox="1"/>
          <p:nvPr/>
        </p:nvSpPr>
        <p:spPr>
          <a:xfrm>
            <a:off x="8402320" y="2763520"/>
            <a:ext cx="330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Flexible Sensing:</a:t>
            </a:r>
            <a:r>
              <a:rPr lang="en-IN" sz="1600" dirty="0"/>
              <a:t> Additional sensors or data sources can be integrated when required.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F2E6AB2-C771-4CBC-9C70-9E659F40925F}"/>
              </a:ext>
            </a:extLst>
          </p:cNvPr>
          <p:cNvSpPr txBox="1"/>
          <p:nvPr/>
        </p:nvSpPr>
        <p:spPr>
          <a:xfrm>
            <a:off x="8402320" y="3674565"/>
            <a:ext cx="330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Mine-Wide Monitoring:</a:t>
            </a:r>
            <a:r>
              <a:rPr lang="en-IN" sz="1600" dirty="0"/>
              <a:t> The same architecture can support multiple conveyor systems.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FDB45D2-CEA2-B73C-157C-D15E55F68C35}"/>
              </a:ext>
            </a:extLst>
          </p:cNvPr>
          <p:cNvSpPr txBox="1"/>
          <p:nvPr/>
        </p:nvSpPr>
        <p:spPr>
          <a:xfrm>
            <a:off x="8402320" y="4653280"/>
            <a:ext cx="330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Continuous Learning:</a:t>
            </a:r>
            <a:r>
              <a:rPr lang="en-IN" sz="1600" dirty="0"/>
              <a:t> Increasing belt-history data can improve AI/ML performance over time.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2B26709-5B17-F191-C0F5-5607EE70D327}"/>
              </a:ext>
            </a:extLst>
          </p:cNvPr>
          <p:cNvSpPr/>
          <p:nvPr/>
        </p:nvSpPr>
        <p:spPr>
          <a:xfrm>
            <a:off x="0" y="5801359"/>
            <a:ext cx="12185522" cy="10464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732FBA3-D246-AB36-C9B7-094E5539FB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6ED185-2E45-43C5-224F-665BE68EA955}"/>
              </a:ext>
            </a:extLst>
          </p:cNvPr>
          <p:cNvSpPr txBox="1"/>
          <p:nvPr/>
        </p:nvSpPr>
        <p:spPr>
          <a:xfrm>
            <a:off x="5161280" y="6445565"/>
            <a:ext cx="324104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@SIH Idea submission- Template</a:t>
            </a:r>
          </a:p>
          <a:p>
            <a:endParaRPr lang="en-IN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77F5D83-0B7B-F72E-C940-E01F25A11780}"/>
              </a:ext>
            </a:extLst>
          </p:cNvPr>
          <p:cNvSpPr txBox="1"/>
          <p:nvPr/>
        </p:nvSpPr>
        <p:spPr>
          <a:xfrm>
            <a:off x="11370658" y="6424614"/>
            <a:ext cx="8229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</a:rPr>
              <a:t>4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9699228A-6AD6-3A18-5CAE-2DE5A726F08F}"/>
              </a:ext>
            </a:extLst>
          </p:cNvPr>
          <p:cNvSpPr/>
          <p:nvPr/>
        </p:nvSpPr>
        <p:spPr>
          <a:xfrm>
            <a:off x="484440" y="5601188"/>
            <a:ext cx="3828681" cy="628476"/>
          </a:xfrm>
          <a:prstGeom prst="roundRect">
            <a:avLst/>
          </a:prstGeom>
          <a:solidFill>
            <a:schemeClr val="bg1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66D7A2-0A38-624A-5742-EF189B7FFF8E}"/>
              </a:ext>
            </a:extLst>
          </p:cNvPr>
          <p:cNvSpPr txBox="1"/>
          <p:nvPr/>
        </p:nvSpPr>
        <p:spPr>
          <a:xfrm>
            <a:off x="487679" y="5584723"/>
            <a:ext cx="40404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/>
              <a:t>The cost of making a single prototype using </a:t>
            </a:r>
            <a:r>
              <a:rPr lang="en-IN" sz="1600" b="1" dirty="0"/>
              <a:t>indigenous products </a:t>
            </a:r>
            <a:r>
              <a:rPr lang="en-IN" sz="1600" dirty="0"/>
              <a:t>is around 33000/-</a:t>
            </a:r>
          </a:p>
        </p:txBody>
      </p:sp>
    </p:spTree>
    <p:extLst>
      <p:ext uri="{BB962C8B-B14F-4D97-AF65-F5344CB8AC3E}">
        <p14:creationId xmlns:p14="http://schemas.microsoft.com/office/powerpoint/2010/main" val="40668409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EE4B050-6761-0CC1-0206-CA78B763C169}"/>
              </a:ext>
            </a:extLst>
          </p:cNvPr>
          <p:cNvSpPr txBox="1"/>
          <p:nvPr/>
        </p:nvSpPr>
        <p:spPr>
          <a:xfrm>
            <a:off x="122766" y="1166842"/>
            <a:ext cx="90508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>
                <a:solidFill>
                  <a:srgbClr val="FF0000"/>
                </a:solidFill>
              </a:rPr>
              <a:t>SAFETY: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Early detection of belt damage reduces the risk of sudden belt failure.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Helps protect workers from hazards caused by belt rupture and material spillage.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Reduces risk of damage to conveyor equipment</a:t>
            </a:r>
          </a:p>
          <a:p>
            <a:r>
              <a:rPr lang="en-IN" sz="1600" b="1" dirty="0">
                <a:solidFill>
                  <a:srgbClr val="FF0000"/>
                </a:solidFill>
              </a:rPr>
              <a:t>REDUCED D0WNTIME 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Predictive detection enables maintenance before major failure.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Helps minimize unexpected conveyor shutdowns.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Supports planned maintenance instead of reactive maintenance.</a:t>
            </a:r>
          </a:p>
          <a:p>
            <a:r>
              <a:rPr lang="en-IN" sz="1600" b="1" dirty="0">
                <a:solidFill>
                  <a:srgbClr val="FF0000"/>
                </a:solidFill>
              </a:rPr>
              <a:t>COST MAINTANANCE: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Reduces maintenance and operational losses caused by major belt failures.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Early identification of damage can prevent escalation of small defects.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Improves utilization of existing conveyor infrastructure.</a:t>
            </a:r>
          </a:p>
          <a:p>
            <a:pPr lvl="0"/>
            <a:r>
              <a:rPr lang="en-IN" sz="1600" b="1" dirty="0">
                <a:solidFill>
                  <a:srgbClr val="FF0000"/>
                </a:solidFill>
              </a:rPr>
              <a:t>PRODUCTION BENEFITS: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Continuous monitoring improves conveyor availability.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Real-time belt health information supports faster maintenance decisions.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Helps maintain reliable material transportation in iron ore mines.</a:t>
            </a:r>
          </a:p>
          <a:p>
            <a:pPr lvl="0"/>
            <a:endParaRPr lang="en-IN" sz="1600" b="1" dirty="0">
              <a:solidFill>
                <a:srgbClr val="FF0000"/>
              </a:solidFill>
            </a:endParaRPr>
          </a:p>
          <a:p>
            <a:endParaRPr lang="en-IN" sz="1600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0A49E18-590D-5CE7-44BE-6408033BC573}"/>
              </a:ext>
            </a:extLst>
          </p:cNvPr>
          <p:cNvSpPr/>
          <p:nvPr/>
        </p:nvSpPr>
        <p:spPr>
          <a:xfrm>
            <a:off x="8737600" y="2624667"/>
            <a:ext cx="1583266" cy="15748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b="1" dirty="0"/>
              <a:t>IMPACTS AND BENEFITS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62D0AAE-F02F-3E97-964E-CF9092976F73}"/>
              </a:ext>
            </a:extLst>
          </p:cNvPr>
          <p:cNvCxnSpPr>
            <a:stCxn id="2" idx="0"/>
          </p:cNvCxnSpPr>
          <p:nvPr/>
        </p:nvCxnSpPr>
        <p:spPr>
          <a:xfrm flipV="1">
            <a:off x="9529233" y="1947334"/>
            <a:ext cx="0" cy="6773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7FE3DD1-5070-24A7-E09B-6725A737657C}"/>
              </a:ext>
            </a:extLst>
          </p:cNvPr>
          <p:cNvCxnSpPr>
            <a:stCxn id="2" idx="6"/>
          </p:cNvCxnSpPr>
          <p:nvPr/>
        </p:nvCxnSpPr>
        <p:spPr>
          <a:xfrm>
            <a:off x="10320866" y="3412067"/>
            <a:ext cx="55348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81A9797-307B-6E4F-CAFC-A753C7E75D95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8054947" y="3412067"/>
            <a:ext cx="6826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9362C25-EAA4-D511-FDFA-4B1E330D5486}"/>
              </a:ext>
            </a:extLst>
          </p:cNvPr>
          <p:cNvCxnSpPr>
            <a:cxnSpLocks/>
            <a:stCxn id="2" idx="4"/>
          </p:cNvCxnSpPr>
          <p:nvPr/>
        </p:nvCxnSpPr>
        <p:spPr>
          <a:xfrm>
            <a:off x="9529233" y="4199467"/>
            <a:ext cx="0" cy="6773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9307D8D-B7E3-A091-493C-5E76495B89CD}"/>
              </a:ext>
            </a:extLst>
          </p:cNvPr>
          <p:cNvSpPr/>
          <p:nvPr/>
        </p:nvSpPr>
        <p:spPr>
          <a:xfrm>
            <a:off x="8737600" y="1360170"/>
            <a:ext cx="1583266" cy="762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SAFETY</a:t>
            </a:r>
            <a:endParaRPr lang="en-IN" b="1" dirty="0"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  <a:reflection blurRad="6350" stA="55000" endA="300" endPos="45500" dir="5400000" sy="-100000" algn="bl" rotWithShape="0"/>
              </a:effectLst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A299285-9BE7-00F6-5F06-CF3707D17542}"/>
              </a:ext>
            </a:extLst>
          </p:cNvPr>
          <p:cNvSpPr/>
          <p:nvPr/>
        </p:nvSpPr>
        <p:spPr>
          <a:xfrm>
            <a:off x="6774309" y="3031066"/>
            <a:ext cx="1583266" cy="762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REDUCED DOWNTIME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54A63D88-EDD9-73EA-5D09-858F7D47882F}"/>
              </a:ext>
            </a:extLst>
          </p:cNvPr>
          <p:cNvSpPr/>
          <p:nvPr/>
        </p:nvSpPr>
        <p:spPr>
          <a:xfrm>
            <a:off x="8802187" y="4692914"/>
            <a:ext cx="1583266" cy="762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COST MAINTENANCE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3018528-C92B-8372-98B2-1244F77A6585}"/>
              </a:ext>
            </a:extLst>
          </p:cNvPr>
          <p:cNvSpPr/>
          <p:nvPr/>
        </p:nvSpPr>
        <p:spPr>
          <a:xfrm>
            <a:off x="10571719" y="3031066"/>
            <a:ext cx="1583266" cy="762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PRODUCTION BENEFITS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E824B4-103D-192A-0AAE-9F1A05F113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185" y="123093"/>
            <a:ext cx="1228725" cy="81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85800" y="1538707"/>
            <a:ext cx="4983480" cy="26776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500" b="1" dirty="0">
                <a:solidFill>
                  <a:srgbClr val="704D8F"/>
                </a:solidFill>
                <a:latin typeface="Arial"/>
              </a:rPr>
              <a:t>RESEARCH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1538707"/>
            <a:ext cx="5349240" cy="26776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500" b="1" dirty="0">
                <a:solidFill>
                  <a:srgbClr val="704D8F"/>
                </a:solidFill>
                <a:latin typeface="Arial"/>
              </a:rPr>
              <a:t>KEY RESEARCH PAPERS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42338"/>
            <a:ext cx="4983480" cy="74980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6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841248" y="2071681"/>
            <a:ext cx="658368" cy="19851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050" b="1" dirty="0">
                <a:solidFill>
                  <a:srgbClr val="0070C0"/>
                </a:solidFill>
                <a:latin typeface="Arial"/>
              </a:rPr>
              <a:t>DAS</a:t>
            </a:r>
            <a:endParaRPr sz="950" b="1" dirty="0">
              <a:solidFill>
                <a:srgbClr val="0070C0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36192" y="2102067"/>
            <a:ext cx="3840480" cy="375487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dirty="0">
                <a:solidFill>
                  <a:srgbClr val="232323"/>
                </a:solidFill>
                <a:latin typeface="Arial"/>
              </a:rPr>
              <a:t>Distributed acoustic sensing has been field-tested on mining conveyors for continuous vibration/fault monitoring.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01874"/>
            <a:ext cx="4983480" cy="74980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6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841248" y="2931217"/>
            <a:ext cx="658368" cy="19851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050" b="1" dirty="0">
                <a:solidFill>
                  <a:srgbClr val="357E58"/>
                </a:solidFill>
                <a:latin typeface="Arial"/>
              </a:rPr>
              <a:t>VISION</a:t>
            </a:r>
            <a:endParaRPr sz="950" b="1" dirty="0">
              <a:solidFill>
                <a:srgbClr val="357E58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36192" y="2969297"/>
            <a:ext cx="3840480" cy="360099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dirty="0">
                <a:solidFill>
                  <a:srgbClr val="232323"/>
                </a:solidFill>
                <a:latin typeface="Arial"/>
              </a:rPr>
              <a:t>Deep-learning computer vision can identify conveyor-belt damage such as cuts, tears and other defects.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661410"/>
            <a:ext cx="4983480" cy="74980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6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841248" y="3790752"/>
            <a:ext cx="658368" cy="19851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050" b="1" dirty="0">
                <a:solidFill>
                  <a:srgbClr val="D3802A"/>
                </a:solidFill>
                <a:latin typeface="Arial"/>
              </a:rPr>
              <a:t>AI / 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3821139"/>
            <a:ext cx="3840480" cy="375487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dirty="0">
                <a:solidFill>
                  <a:srgbClr val="232323"/>
                </a:solidFill>
                <a:latin typeface="Arial"/>
              </a:rPr>
              <a:t>Machine-learning and digital-twin approaches support fault prediction and condition-based maintenance.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575810"/>
            <a:ext cx="4983480" cy="105156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704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841248" y="4641200"/>
            <a:ext cx="1188720" cy="34471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dirty="0">
                <a:solidFill>
                  <a:srgbClr val="704D8F"/>
                </a:solidFill>
                <a:latin typeface="Arial"/>
              </a:rPr>
              <a:t>RESEARCH </a:t>
            </a:r>
            <a:endParaRPr lang="en-US" sz="1000" b="1" dirty="0">
              <a:solidFill>
                <a:srgbClr val="704D8F"/>
              </a:solidFill>
              <a:latin typeface="Arial"/>
            </a:endParaRPr>
          </a:p>
          <a:p>
            <a:pPr algn="l"/>
            <a:r>
              <a:rPr sz="1000" b="1" dirty="0">
                <a:solidFill>
                  <a:srgbClr val="704D8F"/>
                </a:solidFill>
                <a:latin typeface="Arial"/>
              </a:rPr>
              <a:t>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19072" y="4641200"/>
            <a:ext cx="3474720" cy="521681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dirty="0">
                <a:solidFill>
                  <a:srgbClr val="232323"/>
                </a:solidFill>
                <a:latin typeface="Arial"/>
              </a:rPr>
              <a:t>Most approaches focus on a single sensing modality. Our opportunity is to fuse DAS + DTS + bottom-side vision + operational context for predictive belt health.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1942338"/>
            <a:ext cx="5349240" cy="8503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6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0" name="Oval 19"/>
          <p:cNvSpPr/>
          <p:nvPr/>
        </p:nvSpPr>
        <p:spPr>
          <a:xfrm>
            <a:off x="6236208" y="2125218"/>
            <a:ext cx="438912" cy="438912"/>
          </a:xfrm>
          <a:prstGeom prst="ellipse">
            <a:avLst/>
          </a:prstGeom>
          <a:solidFill>
            <a:srgbClr val="704D8F"/>
          </a:solidFill>
          <a:ln>
            <a:solidFill>
              <a:srgbClr val="704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1" name="TextBox 20"/>
          <p:cNvSpPr txBox="1"/>
          <p:nvPr/>
        </p:nvSpPr>
        <p:spPr>
          <a:xfrm>
            <a:off x="6236208" y="2149629"/>
            <a:ext cx="438912" cy="152349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750" b="1" dirty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03136" y="2011519"/>
            <a:ext cx="4389120" cy="190821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dirty="0">
                <a:solidFill>
                  <a:srgbClr val="704D8F"/>
                </a:solidFill>
                <a:latin typeface="Arial"/>
              </a:rPr>
              <a:t>Wijaya et al. (2022)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03136" y="2210568"/>
            <a:ext cx="4389120" cy="3139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dirty="0">
                <a:solidFill>
                  <a:srgbClr val="232323"/>
                </a:solidFill>
                <a:latin typeface="Arial"/>
              </a:rPr>
              <a:t>Automatic fault detection system for mining conveyor using distributed acoustic sensor.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03136" y="2529830"/>
            <a:ext cx="4389120" cy="16004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800" dirty="0">
                <a:solidFill>
                  <a:srgbClr val="5F5F5F"/>
                </a:solidFill>
                <a:latin typeface="Arial"/>
              </a:rPr>
              <a:t>Measurement, 187, 110330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0760" y="2856738"/>
            <a:ext cx="5349240" cy="8503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6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6" name="Oval 25"/>
          <p:cNvSpPr/>
          <p:nvPr/>
        </p:nvSpPr>
        <p:spPr>
          <a:xfrm>
            <a:off x="6236208" y="3039618"/>
            <a:ext cx="438912" cy="438912"/>
          </a:xfrm>
          <a:prstGeom prst="ellipse">
            <a:avLst/>
          </a:prstGeom>
          <a:solidFill>
            <a:srgbClr val="704D8F"/>
          </a:solidFill>
          <a:ln>
            <a:solidFill>
              <a:srgbClr val="704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7" name="TextBox 26"/>
          <p:cNvSpPr txBox="1"/>
          <p:nvPr/>
        </p:nvSpPr>
        <p:spPr>
          <a:xfrm>
            <a:off x="6236208" y="3064029"/>
            <a:ext cx="438912" cy="152349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750" b="1" dirty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03136" y="2848976"/>
            <a:ext cx="4389120" cy="34471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en-IN" sz="1000" b="1" dirty="0">
                <a:solidFill>
                  <a:srgbClr val="7030A0"/>
                </a:solidFill>
              </a:rPr>
              <a:t>Sahu et al. (2021)</a:t>
            </a:r>
            <a:br>
              <a:rPr lang="en-IN" sz="1000" dirty="0">
                <a:solidFill>
                  <a:srgbClr val="7030A0"/>
                </a:solidFill>
              </a:rPr>
            </a:br>
            <a:endParaRPr sz="1000" b="1" dirty="0">
              <a:solidFill>
                <a:srgbClr val="7030A0"/>
              </a:solidFill>
              <a:latin typeface="Arial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803136" y="3021095"/>
            <a:ext cx="4389120" cy="521681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en-IN" sz="1050" b="1" dirty="0"/>
              <a:t>Application of Lightweight Convolutional Neural Network for Damage Detection of Conveyor Belt.</a:t>
            </a:r>
            <a:br>
              <a:rPr lang="en-IN" sz="1050" b="1" dirty="0"/>
            </a:br>
            <a:endParaRPr sz="1050" b="1" dirty="0">
              <a:solidFill>
                <a:srgbClr val="232323"/>
              </a:solidFill>
              <a:latin typeface="Arial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803136" y="3436536"/>
            <a:ext cx="4389120" cy="175433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r>
              <a:rPr lang="en-IN" sz="900" dirty="0"/>
              <a:t>Applied Sciences, 11(16), 7282</a:t>
            </a:r>
            <a:endParaRPr sz="900" dirty="0">
              <a:solidFill>
                <a:srgbClr val="5F5F5F"/>
              </a:solidFill>
              <a:latin typeface="Arial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080760" y="3771137"/>
            <a:ext cx="5349240" cy="8503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6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2" name="Oval 31"/>
          <p:cNvSpPr/>
          <p:nvPr/>
        </p:nvSpPr>
        <p:spPr>
          <a:xfrm>
            <a:off x="6236208" y="3954018"/>
            <a:ext cx="438912" cy="438912"/>
          </a:xfrm>
          <a:prstGeom prst="ellipse">
            <a:avLst/>
          </a:prstGeom>
          <a:solidFill>
            <a:srgbClr val="704D8F"/>
          </a:solidFill>
          <a:ln>
            <a:solidFill>
              <a:srgbClr val="704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3" name="TextBox 32"/>
          <p:cNvSpPr txBox="1"/>
          <p:nvPr/>
        </p:nvSpPr>
        <p:spPr>
          <a:xfrm>
            <a:off x="6236208" y="3978429"/>
            <a:ext cx="438912" cy="152349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750" b="1" dirty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03136" y="3840320"/>
            <a:ext cx="4389120" cy="190821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dirty="0">
                <a:solidFill>
                  <a:srgbClr val="704D8F"/>
                </a:solidFill>
                <a:latin typeface="Arial"/>
              </a:rPr>
              <a:t>Pulcini &amp; Modoni (2024)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03136" y="4023979"/>
            <a:ext cx="4389120" cy="34471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dirty="0">
                <a:solidFill>
                  <a:srgbClr val="232323"/>
                </a:solidFill>
                <a:latin typeface="Arial"/>
              </a:rPr>
              <a:t>Machine learning-based digital twin of a conveyor belt for predictive maintenance.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03136" y="4350936"/>
            <a:ext cx="4389120" cy="175433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dirty="0">
                <a:solidFill>
                  <a:srgbClr val="5F5F5F"/>
                </a:solidFill>
                <a:latin typeface="Arial"/>
              </a:rPr>
              <a:t>Int. J. Adv. Manuf. Technol., 133, 6095–6110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80760" y="4685538"/>
            <a:ext cx="5349240" cy="8503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6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8" name="Oval 37"/>
          <p:cNvSpPr/>
          <p:nvPr/>
        </p:nvSpPr>
        <p:spPr>
          <a:xfrm>
            <a:off x="6236208" y="4868418"/>
            <a:ext cx="438912" cy="438912"/>
          </a:xfrm>
          <a:prstGeom prst="ellipse">
            <a:avLst/>
          </a:prstGeom>
          <a:solidFill>
            <a:srgbClr val="704D8F"/>
          </a:solidFill>
          <a:ln>
            <a:solidFill>
              <a:srgbClr val="704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9" name="TextBox 38"/>
          <p:cNvSpPr txBox="1"/>
          <p:nvPr/>
        </p:nvSpPr>
        <p:spPr>
          <a:xfrm>
            <a:off x="6236208" y="4888982"/>
            <a:ext cx="438912" cy="16004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800" b="1" dirty="0">
                <a:solidFill>
                  <a:srgbClr val="FFFFFF"/>
                </a:solidFill>
                <a:latin typeface="Arial"/>
              </a:rPr>
              <a:t>04</a:t>
            </a:r>
            <a:endParaRPr sz="75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803136" y="4754720"/>
            <a:ext cx="4389120" cy="190821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dirty="0">
                <a:solidFill>
                  <a:srgbClr val="704D8F"/>
                </a:solidFill>
                <a:latin typeface="Arial"/>
              </a:rPr>
              <a:t>Rios-Colque et al. (2026)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03136" y="4953767"/>
            <a:ext cx="4389120" cy="3139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dirty="0">
                <a:solidFill>
                  <a:srgbClr val="232323"/>
                </a:solidFill>
                <a:latin typeface="Arial"/>
              </a:rPr>
              <a:t>Computer Vision-Based Techniques for Conveyor Belt Condition Monitoring: A Systematic Review.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03136" y="5273030"/>
            <a:ext cx="4389120" cy="16004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800" dirty="0">
                <a:solidFill>
                  <a:srgbClr val="5F5F5F"/>
                </a:solidFill>
                <a:latin typeface="Arial"/>
              </a:rPr>
              <a:t>Sensors, 26(8), 2527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4841" y="5801252"/>
            <a:ext cx="5166359" cy="512064"/>
          </a:xfrm>
          <a:prstGeom prst="roundRect">
            <a:avLst/>
          </a:prstGeom>
          <a:solidFill>
            <a:srgbClr val="F7F8FA"/>
          </a:solidFill>
          <a:ln w="1397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4" name="TextBox 43"/>
          <p:cNvSpPr txBox="1"/>
          <p:nvPr/>
        </p:nvSpPr>
        <p:spPr>
          <a:xfrm>
            <a:off x="821245" y="5961873"/>
            <a:ext cx="5074920" cy="190821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000" b="1" dirty="0">
                <a:solidFill>
                  <a:srgbClr val="0070C0"/>
                </a:solidFill>
                <a:latin typeface="Arial"/>
              </a:rPr>
              <a:t>RESEARCH  →  SENSOR FUSION  →  PREDICTIVE BELT MONITORING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CEA122A2-6E5B-9153-AD88-D1E7E4FCC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83" y="108291"/>
            <a:ext cx="1228725" cy="819150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FC010801-B67B-AA40-20C3-4937C4F3F63F}"/>
              </a:ext>
            </a:extLst>
          </p:cNvPr>
          <p:cNvSpPr txBox="1"/>
          <p:nvPr/>
        </p:nvSpPr>
        <p:spPr>
          <a:xfrm>
            <a:off x="3456432" y="235628"/>
            <a:ext cx="6197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AND REFERENCES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20690E51-FC9F-B093-A131-1751932BD2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6CFEAAAE-8A55-7785-67C6-9D18242918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75943"/>
            <a:ext cx="12191999" cy="503925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57ED2DA-1F65-0D5A-7895-10C0CE2862ED}"/>
              </a:ext>
            </a:extLst>
          </p:cNvPr>
          <p:cNvSpPr txBox="1"/>
          <p:nvPr/>
        </p:nvSpPr>
        <p:spPr>
          <a:xfrm>
            <a:off x="5596953" y="6473937"/>
            <a:ext cx="309543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prstClr val="white"/>
                </a:solidFill>
                <a:latin typeface="TradeGothic"/>
              </a:rPr>
              <a:t>@SIH Idea submission- Template</a:t>
            </a:r>
          </a:p>
          <a:p>
            <a:endParaRPr lang="en-IN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E999777-F8B4-F057-366D-45BBDE8D94A5}"/>
              </a:ext>
            </a:extLst>
          </p:cNvPr>
          <p:cNvSpPr txBox="1"/>
          <p:nvPr/>
        </p:nvSpPr>
        <p:spPr>
          <a:xfrm>
            <a:off x="11430000" y="6428287"/>
            <a:ext cx="9961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>
                <a:solidFill>
                  <a:schemeClr val="bg1"/>
                </a:solidFill>
              </a:rPr>
              <a:t>6</a:t>
            </a:r>
            <a:endParaRPr lang="en-IN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8218</TotalTime>
  <Words>1045</Words>
  <Application>Microsoft Office PowerPoint</Application>
  <PresentationFormat>Widescreen</PresentationFormat>
  <Paragraphs>140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 PROPOSED SOLUTION</vt:lpstr>
      <vt:lpstr>TECHNICAL APPROACH</vt:lpstr>
      <vt:lpstr>PowerPoint Presentation</vt:lpstr>
      <vt:lpstr>IMPACT AND BENEFITS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NARESH S</cp:lastModifiedBy>
  <cp:revision>188</cp:revision>
  <dcterms:created xsi:type="dcterms:W3CDTF">2013-12-12T18:46:50Z</dcterms:created>
  <dcterms:modified xsi:type="dcterms:W3CDTF">2026-08-30T18:16:19Z</dcterms:modified>
  <cp:category/>
</cp:coreProperties>
</file>