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300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9FA593-AB12-4D14-9FF7-61DA79AA988B}" v="20" dt="2026-08-30T11:03:11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648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hari S P" userId="6b2259e53d7225fd" providerId="LiveId" clId="{6C29CEB2-DCAF-4366-8A36-D084BC61BB11}"/>
    <pc:docChg chg="undo custSel addSld delSld modSld">
      <pc:chgData name="Shrihari S P" userId="6b2259e53d7225fd" providerId="LiveId" clId="{6C29CEB2-DCAF-4366-8A36-D084BC61BB11}" dt="2026-08-30T11:03:26.936" v="625" actId="1076"/>
      <pc:docMkLst>
        <pc:docMk/>
      </pc:docMkLst>
      <pc:sldChg chg="addSp delSp modSp add mod">
        <pc:chgData name="Shrihari S P" userId="6b2259e53d7225fd" providerId="LiveId" clId="{6C29CEB2-DCAF-4366-8A36-D084BC61BB11}" dt="2026-08-30T11:03:26.936" v="625" actId="1076"/>
        <pc:sldMkLst>
          <pc:docMk/>
          <pc:sldMk cId="0" sldId="256"/>
        </pc:sldMkLst>
        <pc:spChg chg="del">
          <ac:chgData name="Shrihari S P" userId="6b2259e53d7225fd" providerId="LiveId" clId="{6C29CEB2-DCAF-4366-8A36-D084BC61BB11}" dt="2026-08-30T11:03:15.212" v="623" actId="478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Shrihari S P" userId="6b2259e53d7225fd" providerId="LiveId" clId="{6C29CEB2-DCAF-4366-8A36-D084BC61BB11}" dt="2026-08-30T11:03:26.936" v="625" actId="1076"/>
          <ac:picMkLst>
            <pc:docMk/>
            <pc:sldMk cId="0" sldId="256"/>
            <ac:picMk id="46" creationId="{E1F08AE0-CDC3-375B-5BBC-5C1417D8E45E}"/>
          </ac:picMkLst>
        </pc:picChg>
      </pc:sldChg>
      <pc:sldChg chg="addSp delSp modSp add del mod">
        <pc:chgData name="Shrihari S P" userId="6b2259e53d7225fd" providerId="LiveId" clId="{6C29CEB2-DCAF-4366-8A36-D084BC61BB11}" dt="2026-08-30T06:48:44.603" v="619" actId="47"/>
        <pc:sldMkLst>
          <pc:docMk/>
          <pc:sldMk cId="2997144140" sldId="294"/>
        </pc:sldMkLst>
        <pc:spChg chg="add mod">
          <ac:chgData name="Shrihari S P" userId="6b2259e53d7225fd" providerId="LiveId" clId="{6C29CEB2-DCAF-4366-8A36-D084BC61BB11}" dt="2026-08-30T06:10:39.878" v="49" actId="1076"/>
          <ac:spMkLst>
            <pc:docMk/>
            <pc:sldMk cId="2997144140" sldId="294"/>
            <ac:spMk id="2" creationId="{30A49E18-590D-5CE7-44BE-6408033BC573}"/>
          </ac:spMkLst>
        </pc:spChg>
        <pc:spChg chg="mod">
          <ac:chgData name="Shrihari S P" userId="6b2259e53d7225fd" providerId="LiveId" clId="{6C29CEB2-DCAF-4366-8A36-D084BC61BB11}" dt="2026-08-30T06:16:21.766" v="139" actId="20577"/>
          <ac:spMkLst>
            <pc:docMk/>
            <pc:sldMk cId="2997144140" sldId="294"/>
            <ac:spMk id="3" creationId="{6EE4B050-6761-0CC1-0206-CA78B763C169}"/>
          </ac:spMkLst>
        </pc:spChg>
        <pc:spChg chg="add mod">
          <ac:chgData name="Shrihari S P" userId="6b2259e53d7225fd" providerId="LiveId" clId="{6C29CEB2-DCAF-4366-8A36-D084BC61BB11}" dt="2026-08-30T06:17:07.363" v="148" actId="1076"/>
          <ac:spMkLst>
            <pc:docMk/>
            <pc:sldMk cId="2997144140" sldId="294"/>
            <ac:spMk id="21" creationId="{E9307D8D-B7E3-A091-493C-5E76495B89CD}"/>
          </ac:spMkLst>
        </pc:spChg>
        <pc:spChg chg="add del">
          <ac:chgData name="Shrihari S P" userId="6b2259e53d7225fd" providerId="LiveId" clId="{6C29CEB2-DCAF-4366-8A36-D084BC61BB11}" dt="2026-08-30T06:09:58.161" v="38" actId="11529"/>
          <ac:spMkLst>
            <pc:docMk/>
            <pc:sldMk cId="2997144140" sldId="294"/>
            <ac:spMk id="22" creationId="{B6B17CBA-C45F-2C1E-165F-EA83696D52F0}"/>
          </ac:spMkLst>
        </pc:spChg>
        <pc:spChg chg="add del">
          <ac:chgData name="Shrihari S P" userId="6b2259e53d7225fd" providerId="LiveId" clId="{6C29CEB2-DCAF-4366-8A36-D084BC61BB11}" dt="2026-08-30T06:10:03.176" v="40" actId="478"/>
          <ac:spMkLst>
            <pc:docMk/>
            <pc:sldMk cId="2997144140" sldId="294"/>
            <ac:spMk id="23" creationId="{6E4F7129-90BD-F552-9845-60FD87718059}"/>
          </ac:spMkLst>
        </pc:spChg>
        <pc:spChg chg="add mod">
          <ac:chgData name="Shrihari S P" userId="6b2259e53d7225fd" providerId="LiveId" clId="{6C29CEB2-DCAF-4366-8A36-D084BC61BB11}" dt="2026-08-30T06:16:51.339" v="146" actId="1076"/>
          <ac:spMkLst>
            <pc:docMk/>
            <pc:sldMk cId="2997144140" sldId="294"/>
            <ac:spMk id="25" creationId="{AA299285-9BE7-00F6-5F06-CF3707D17542}"/>
          </ac:spMkLst>
        </pc:spChg>
        <pc:spChg chg="add mod">
          <ac:chgData name="Shrihari S P" userId="6b2259e53d7225fd" providerId="LiveId" clId="{6C29CEB2-DCAF-4366-8A36-D084BC61BB11}" dt="2026-08-30T06:16:58.237" v="147" actId="1076"/>
          <ac:spMkLst>
            <pc:docMk/>
            <pc:sldMk cId="2997144140" sldId="294"/>
            <ac:spMk id="27" creationId="{54A63D88-EDD9-73EA-5D09-858F7D47882F}"/>
          </ac:spMkLst>
        </pc:spChg>
        <pc:spChg chg="add mod">
          <ac:chgData name="Shrihari S P" userId="6b2259e53d7225fd" providerId="LiveId" clId="{6C29CEB2-DCAF-4366-8A36-D084BC61BB11}" dt="2026-08-30T06:16:43.937" v="145" actId="113"/>
          <ac:spMkLst>
            <pc:docMk/>
            <pc:sldMk cId="2997144140" sldId="294"/>
            <ac:spMk id="29" creationId="{A3018528-C92B-8372-98B2-1244F77A6585}"/>
          </ac:spMkLst>
        </pc:spChg>
        <pc:spChg chg="add mod">
          <ac:chgData name="Shrihari S P" userId="6b2259e53d7225fd" providerId="LiveId" clId="{6C29CEB2-DCAF-4366-8A36-D084BC61BB11}" dt="2026-08-30T06:12:23.661" v="77" actId="33987"/>
          <ac:spMkLst>
            <pc:docMk/>
            <pc:sldMk cId="2997144140" sldId="294"/>
            <ac:spMk id="30" creationId="{263040F5-E0C7-B354-90B4-6E7CCD71E42D}"/>
          </ac:spMkLst>
        </pc:spChg>
        <pc:spChg chg="add mod">
          <ac:chgData name="Shrihari S P" userId="6b2259e53d7225fd" providerId="LiveId" clId="{6C29CEB2-DCAF-4366-8A36-D084BC61BB11}" dt="2026-08-30T06:12:41.272" v="81" actId="33987"/>
          <ac:spMkLst>
            <pc:docMk/>
            <pc:sldMk cId="2997144140" sldId="294"/>
            <ac:spMk id="31" creationId="{E7FB1107-30E5-2271-9711-4C029A6461D1}"/>
          </ac:spMkLst>
        </pc:spChg>
        <pc:spChg chg="add mod">
          <ac:chgData name="Shrihari S P" userId="6b2259e53d7225fd" providerId="LiveId" clId="{6C29CEB2-DCAF-4366-8A36-D084BC61BB11}" dt="2026-08-30T06:13:49.038" v="116" actId="33987"/>
          <ac:spMkLst>
            <pc:docMk/>
            <pc:sldMk cId="2997144140" sldId="294"/>
            <ac:spMk id="32" creationId="{D2E7A9F7-5324-C572-6F90-B0F59CD885B5}"/>
          </ac:spMkLst>
        </pc:spChg>
        <pc:spChg chg="add mod">
          <ac:chgData name="Shrihari S P" userId="6b2259e53d7225fd" providerId="LiveId" clId="{6C29CEB2-DCAF-4366-8A36-D084BC61BB11}" dt="2026-08-30T06:14:26.113" v="121" actId="33987"/>
          <ac:spMkLst>
            <pc:docMk/>
            <pc:sldMk cId="2997144140" sldId="294"/>
            <ac:spMk id="33" creationId="{6724C724-AB1C-5907-B40C-4E6506C8AD4C}"/>
          </ac:spMkLst>
        </pc:spChg>
        <pc:spChg chg="add mod">
          <ac:chgData name="Shrihari S P" userId="6b2259e53d7225fd" providerId="LiveId" clId="{6C29CEB2-DCAF-4366-8A36-D084BC61BB11}" dt="2026-08-30T06:15:39.653" v="128" actId="33987"/>
          <ac:spMkLst>
            <pc:docMk/>
            <pc:sldMk cId="2997144140" sldId="294"/>
            <ac:spMk id="34" creationId="{9986E964-B52F-F031-7DBA-D9A2196C5AB2}"/>
          </ac:spMkLst>
        </pc:spChg>
        <pc:spChg chg="add mod">
          <ac:chgData name="Shrihari S P" userId="6b2259e53d7225fd" providerId="LiveId" clId="{6C29CEB2-DCAF-4366-8A36-D084BC61BB11}" dt="2026-08-30T06:16:39.599" v="143" actId="33987"/>
          <ac:spMkLst>
            <pc:docMk/>
            <pc:sldMk cId="2997144140" sldId="294"/>
            <ac:spMk id="35" creationId="{73D22C5F-E357-C4EB-8938-67BFFDA8F75E}"/>
          </ac:spMkLst>
        </pc:spChg>
        <pc:spChg chg="add del">
          <ac:chgData name="Shrihari S P" userId="6b2259e53d7225fd" providerId="LiveId" clId="{6C29CEB2-DCAF-4366-8A36-D084BC61BB11}" dt="2026-08-30T06:19:13.597" v="151" actId="22"/>
          <ac:spMkLst>
            <pc:docMk/>
            <pc:sldMk cId="2997144140" sldId="294"/>
            <ac:spMk id="37" creationId="{1A39C349-64F8-45E2-5C04-1C8C8A466488}"/>
          </ac:spMkLst>
        </pc:spChg>
        <pc:picChg chg="del">
          <ac:chgData name="Shrihari S P" userId="6b2259e53d7225fd" providerId="LiveId" clId="{6C29CEB2-DCAF-4366-8A36-D084BC61BB11}" dt="2026-08-30T06:07:59.081" v="0" actId="478"/>
          <ac:picMkLst>
            <pc:docMk/>
            <pc:sldMk cId="2997144140" sldId="294"/>
            <ac:picMk id="5" creationId="{F7DBCAC2-3492-DA61-B811-7582F255A06C}"/>
          </ac:picMkLst>
        </pc:picChg>
        <pc:cxnChg chg="add mod">
          <ac:chgData name="Shrihari S P" userId="6b2259e53d7225fd" providerId="LiveId" clId="{6C29CEB2-DCAF-4366-8A36-D084BC61BB11}" dt="2026-08-30T06:10:39.878" v="49" actId="1076"/>
          <ac:cxnSpMkLst>
            <pc:docMk/>
            <pc:sldMk cId="2997144140" sldId="294"/>
            <ac:cxnSpMk id="8" creationId="{262D0AAE-F02F-3E97-964E-CF9092976F73}"/>
          </ac:cxnSpMkLst>
        </pc:cxnChg>
        <pc:cxnChg chg="add mod">
          <ac:chgData name="Shrihari S P" userId="6b2259e53d7225fd" providerId="LiveId" clId="{6C29CEB2-DCAF-4366-8A36-D084BC61BB11}" dt="2026-08-30T06:10:39.878" v="49" actId="1076"/>
          <ac:cxnSpMkLst>
            <pc:docMk/>
            <pc:sldMk cId="2997144140" sldId="294"/>
            <ac:cxnSpMk id="14" creationId="{27FE3DD1-5070-24A7-E09B-6725A737657C}"/>
          </ac:cxnSpMkLst>
        </pc:cxnChg>
        <pc:cxnChg chg="add mod">
          <ac:chgData name="Shrihari S P" userId="6b2259e53d7225fd" providerId="LiveId" clId="{6C29CEB2-DCAF-4366-8A36-D084BC61BB11}" dt="2026-08-30T06:10:39.878" v="49" actId="1076"/>
          <ac:cxnSpMkLst>
            <pc:docMk/>
            <pc:sldMk cId="2997144140" sldId="294"/>
            <ac:cxnSpMk id="16" creationId="{E81A9797-307B-6E4F-CAFC-A753C7E75D95}"/>
          </ac:cxnSpMkLst>
        </pc:cxnChg>
        <pc:cxnChg chg="add mod">
          <ac:chgData name="Shrihari S P" userId="6b2259e53d7225fd" providerId="LiveId" clId="{6C29CEB2-DCAF-4366-8A36-D084BC61BB11}" dt="2026-08-30T06:10:39.878" v="49" actId="1076"/>
          <ac:cxnSpMkLst>
            <pc:docMk/>
            <pc:sldMk cId="2997144140" sldId="294"/>
            <ac:cxnSpMk id="19" creationId="{D9362C25-EAA4-D511-FDFA-4B1E330D5486}"/>
          </ac:cxnSpMkLst>
        </pc:cxnChg>
      </pc:sldChg>
      <pc:sldChg chg="addSp modSp add del mod">
        <pc:chgData name="Shrihari S P" userId="6b2259e53d7225fd" providerId="LiveId" clId="{6C29CEB2-DCAF-4366-8A36-D084BC61BB11}" dt="2026-08-30T11:03:09.813" v="621" actId="47"/>
        <pc:sldMkLst>
          <pc:docMk/>
          <pc:sldMk cId="3916788613" sldId="296"/>
        </pc:sldMkLst>
        <pc:spChg chg="add mod">
          <ac:chgData name="Shrihari S P" userId="6b2259e53d7225fd" providerId="LiveId" clId="{6C29CEB2-DCAF-4366-8A36-D084BC61BB11}" dt="2026-08-30T06:22:18.725" v="614" actId="20577"/>
          <ac:spMkLst>
            <pc:docMk/>
            <pc:sldMk cId="3916788613" sldId="296"/>
            <ac:spMk id="5" creationId="{1DD4F960-FEB4-6D98-85F1-18DE50850C01}"/>
          </ac:spMkLst>
        </pc:spChg>
        <pc:picChg chg="add">
          <ac:chgData name="Shrihari S P" userId="6b2259e53d7225fd" providerId="LiveId" clId="{6C29CEB2-DCAF-4366-8A36-D084BC61BB11}" dt="2026-08-30T06:19:59" v="153" actId="22"/>
          <ac:picMkLst>
            <pc:docMk/>
            <pc:sldMk cId="3916788613" sldId="296"/>
            <ac:picMk id="3" creationId="{65D7F903-7B46-4998-2C5D-7BF5BB18E75E}"/>
          </ac:picMkLst>
        </pc:picChg>
      </pc:sldChg>
      <pc:sldChg chg="new del">
        <pc:chgData name="Shrihari S P" userId="6b2259e53d7225fd" providerId="LiveId" clId="{6C29CEB2-DCAF-4366-8A36-D084BC61BB11}" dt="2026-08-30T06:48:42.290" v="616" actId="47"/>
        <pc:sldMkLst>
          <pc:docMk/>
          <pc:sldMk cId="307210734" sldId="297"/>
        </pc:sldMkLst>
      </pc:sldChg>
      <pc:sldChg chg="del">
        <pc:chgData name="Shrihari S P" userId="6b2259e53d7225fd" providerId="LiveId" clId="{6C29CEB2-DCAF-4366-8A36-D084BC61BB11}" dt="2026-08-30T06:19:09.975" v="149" actId="47"/>
        <pc:sldMkLst>
          <pc:docMk/>
          <pc:sldMk cId="1979787910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675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22927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07730" y="-402796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7730" y="993332"/>
            <a:ext cx="6447161" cy="5005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SIH26008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Belt Joint Rupture and Conveyor Belt Damages in Iron Ore Mining Industry: Intelligent Monitoring and Prediction of Conveyor Belt Joint Rupture and Damages in Iron Ore Mining Industry.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     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Automation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SIH26-A0H-T114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Sergio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1089" y="-25576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AI-Based Monitoring and Prediction of Conveyor </a:t>
            </a:r>
            <a:b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Belt Failures in Iron Ore Mines</a:t>
            </a:r>
            <a:endParaRPr lang="en-US" sz="24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086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379854-74B2-028F-D400-EF45991371C4}"/>
              </a:ext>
            </a:extLst>
          </p:cNvPr>
          <p:cNvSpPr txBox="1"/>
          <p:nvPr/>
        </p:nvSpPr>
        <p:spPr>
          <a:xfrm>
            <a:off x="118247" y="1063837"/>
            <a:ext cx="1207375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12DD5-17E8-617C-F010-2AAA98EC1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282" y="149011"/>
            <a:ext cx="1020287" cy="738229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21C4FC-646C-58D7-5956-625A84873BF8}"/>
              </a:ext>
            </a:extLst>
          </p:cNvPr>
          <p:cNvSpPr/>
          <p:nvPr/>
        </p:nvSpPr>
        <p:spPr>
          <a:xfrm>
            <a:off x="221089" y="1087439"/>
            <a:ext cx="3285509" cy="5153970"/>
          </a:xfrm>
          <a:prstGeom prst="roundRect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Idea: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multi-sensor system for continuous monitoring and prediction of conveyor belt and joint failures.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camera vision, magnetic NDT, DAS,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speed,slip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tension monitoring for comprehensive belt health assessment.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live sensor data along with belt maintenance and operating history to predict developing failures.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8A54A1-C878-8C3A-DDD1-EFE5CAB81ECD}"/>
              </a:ext>
            </a:extLst>
          </p:cNvPr>
          <p:cNvSpPr/>
          <p:nvPr/>
        </p:nvSpPr>
        <p:spPr>
          <a:xfrm>
            <a:off x="3609440" y="3783996"/>
            <a:ext cx="4888608" cy="2510028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fontAlgn="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+ Magnetic NDT detect visible and internal belt/splice damage.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 provides distributed monitoring and helps localize abnormal regions along long conveyors.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+ non-contact speed sensing identifies belt slip, while load/tension monitoring tracks mechanical stress.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fuses all parameters, detects anomalies and predicts failure risk.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34CA2D2-EE3E-8176-974D-0D76FA17FC1E}"/>
              </a:ext>
            </a:extLst>
          </p:cNvPr>
          <p:cNvSpPr/>
          <p:nvPr/>
        </p:nvSpPr>
        <p:spPr>
          <a:xfrm>
            <a:off x="8619592" y="1079316"/>
            <a:ext cx="3285509" cy="5153970"/>
          </a:xfrm>
          <a:prstGeom prst="roundRect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fontAlgn="t"/>
            <a:endParaRPr lang="en-IN" b="1" dirty="0"/>
          </a:p>
          <a:p>
            <a:pPr fontAlgn="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/ Uniqueness: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multi-technology monitoring instead of relying on a single inspection method.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continuous monitoring of long-distance conveyors using distributed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-optic sensing.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real-time sensor data + historical/maintenance data for predictive failure assessment.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corrects false AI detections, allowing the system to improve with operational data.</a:t>
            </a:r>
            <a:endParaRPr lang="en-I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F08DAF3-F296-0D93-B9C9-E5796C229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142" y="1087439"/>
            <a:ext cx="4888608" cy="262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7762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5788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4000" y="644149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6C2A0C-DB8A-7699-B62F-9ED7EEC2FEAC}"/>
              </a:ext>
            </a:extLst>
          </p:cNvPr>
          <p:cNvSpPr txBox="1"/>
          <p:nvPr/>
        </p:nvSpPr>
        <p:spPr>
          <a:xfrm>
            <a:off x="162064" y="1223010"/>
            <a:ext cx="310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89D4E2-2D59-B605-2BAF-9C7E54866AE8}"/>
              </a:ext>
            </a:extLst>
          </p:cNvPr>
          <p:cNvGraphicFramePr>
            <a:graphicFrameLocks noGrp="1"/>
          </p:cNvGraphicFramePr>
          <p:nvPr/>
        </p:nvGraphicFramePr>
        <p:xfrm>
          <a:off x="75165" y="985118"/>
          <a:ext cx="3106916" cy="32801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3458">
                  <a:extLst>
                    <a:ext uri="{9D8B030D-6E8A-4147-A177-3AD203B41FA5}">
                      <a16:colId xmlns:a16="http://schemas.microsoft.com/office/drawing/2014/main" val="2037036327"/>
                    </a:ext>
                  </a:extLst>
                </a:gridCol>
                <a:gridCol w="1553458">
                  <a:extLst>
                    <a:ext uri="{9D8B030D-6E8A-4147-A177-3AD203B41FA5}">
                      <a16:colId xmlns:a16="http://schemas.microsoft.com/office/drawing/2014/main" val="2998708290"/>
                    </a:ext>
                  </a:extLst>
                </a:gridCol>
              </a:tblGrid>
              <a:tr h="236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Sensor / Device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Purpose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522942"/>
                  </a:ext>
                </a:extLst>
              </a:tr>
              <a:tr h="712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Acoustic Sensing (DAS)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Vibration / acoustic monitoring (belt health, misalignment, impacts)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187372"/>
                  </a:ext>
                </a:extLst>
              </a:tr>
              <a:tr h="418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Industrial Camera (Computer Vision)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cuts, tears and surface damages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281986"/>
                  </a:ext>
                </a:extLst>
              </a:tr>
              <a:tr h="418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Encoder and Non-contact Speed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Belt speed measurement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301269"/>
                  </a:ext>
                </a:extLst>
              </a:tr>
              <a:tr h="493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Cell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Mechanical loading and tension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594012"/>
                  </a:ext>
                </a:extLst>
              </a:tr>
              <a:tr h="493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Database (Plant System)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Belt &amp; joint history, past maintenance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730541"/>
                  </a:ext>
                </a:extLst>
              </a:tr>
              <a:tr h="493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Magnetic NDT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Splice/Cord Damage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186351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7D3F5EF-7931-3AC8-6D54-E0E4FA465239}"/>
              </a:ext>
            </a:extLst>
          </p:cNvPr>
          <p:cNvGraphicFramePr>
            <a:graphicFrameLocks noGrp="1"/>
          </p:cNvGraphicFramePr>
          <p:nvPr/>
        </p:nvGraphicFramePr>
        <p:xfrm>
          <a:off x="3355879" y="752214"/>
          <a:ext cx="3234480" cy="40390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7240">
                  <a:extLst>
                    <a:ext uri="{9D8B030D-6E8A-4147-A177-3AD203B41FA5}">
                      <a16:colId xmlns:a16="http://schemas.microsoft.com/office/drawing/2014/main" val="3600900474"/>
                    </a:ext>
                  </a:extLst>
                </a:gridCol>
                <a:gridCol w="1617240">
                  <a:extLst>
                    <a:ext uri="{9D8B030D-6E8A-4147-A177-3AD203B41FA5}">
                      <a16:colId xmlns:a16="http://schemas.microsoft.com/office/drawing/2014/main" val="1278219040"/>
                    </a:ext>
                  </a:extLst>
                </a:gridCol>
              </a:tblGrid>
              <a:tr h="2052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Factor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741140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Belt Joint / Splice Condition and Belt Body Condition</a:t>
                      </a:r>
                    </a:p>
                    <a:p>
                      <a:pPr>
                        <a:buNone/>
                      </a:pP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cuts, cracks and internal splice damage using cameras and Magnetic NDT Sensors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453661"/>
                  </a:ext>
                </a:extLst>
              </a:tr>
              <a:tr h="333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Belt Speed &amp; Slip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belt speed and detects slip using Encoder and Non Contact Speed Sensors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104012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Mechanical Loading &amp; Tension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Cell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516190"/>
                  </a:ext>
                </a:extLst>
              </a:tr>
              <a:tr h="461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Belt Alignment &amp; Fault 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misalignment and locates faults by processing data from 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761446"/>
                  </a:ext>
                </a:extLst>
              </a:tr>
              <a:tr h="590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Status and Start Stop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motor vibration and running/stopped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845419"/>
                  </a:ext>
                </a:extLst>
              </a:tr>
              <a:tr h="333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Belt &amp; Joint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historical data for trend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790778"/>
                  </a:ext>
                </a:extLst>
              </a:tr>
              <a:tr h="333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Maintenance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Analyses maintenance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30592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F26389E-A7C3-772C-9F3B-5E4F0816AD70}"/>
              </a:ext>
            </a:extLst>
          </p:cNvPr>
          <p:cNvGraphicFramePr>
            <a:graphicFrameLocks noGrp="1"/>
          </p:cNvGraphicFramePr>
          <p:nvPr/>
        </p:nvGraphicFramePr>
        <p:xfrm>
          <a:off x="6804686" y="974271"/>
          <a:ext cx="3324406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7472">
                  <a:extLst>
                    <a:ext uri="{9D8B030D-6E8A-4147-A177-3AD203B41FA5}">
                      <a16:colId xmlns:a16="http://schemas.microsoft.com/office/drawing/2014/main" val="1174349809"/>
                    </a:ext>
                  </a:extLst>
                </a:gridCol>
                <a:gridCol w="2126934">
                  <a:extLst>
                    <a:ext uri="{9D8B030D-6E8A-4147-A177-3AD203B41FA5}">
                      <a16:colId xmlns:a16="http://schemas.microsoft.com/office/drawing/2014/main" val="1496606924"/>
                    </a:ext>
                  </a:extLst>
                </a:gridCol>
              </a:tblGrid>
              <a:tr h="1965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765642"/>
                  </a:ext>
                </a:extLst>
              </a:tr>
              <a:tr h="319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 multi-sensor data; Time synchronization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963659"/>
                  </a:ext>
                </a:extLst>
              </a:tr>
              <a:tr h="442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Noise filtering; Signal conditioning; Feature extraction; Data normalization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0539014"/>
                  </a:ext>
                </a:extLst>
              </a:tr>
              <a:tr h="688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/ ML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Anomaly detection; Fault classification; Severity estimation; Fault location estimation; Predictive 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725788"/>
                  </a:ext>
                </a:extLst>
              </a:tr>
              <a:tr h="231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Processed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 only relevant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91592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8F5B118-DA71-CD25-B1AF-345639AABFCB}"/>
              </a:ext>
            </a:extLst>
          </p:cNvPr>
          <p:cNvGraphicFramePr>
            <a:graphicFrameLocks noGrp="1"/>
          </p:cNvGraphicFramePr>
          <p:nvPr/>
        </p:nvGraphicFramePr>
        <p:xfrm>
          <a:off x="10377182" y="1006387"/>
          <a:ext cx="1691148" cy="19554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148">
                  <a:extLst>
                    <a:ext uri="{9D8B030D-6E8A-4147-A177-3AD203B41FA5}">
                      <a16:colId xmlns:a16="http://schemas.microsoft.com/office/drawing/2014/main" val="1809334884"/>
                    </a:ext>
                  </a:extLst>
                </a:gridCol>
              </a:tblGrid>
              <a:tr h="310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</a:t>
                      </a:r>
                      <a:endParaRPr lang="en-IN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166363"/>
                  </a:ext>
                </a:extLst>
              </a:tr>
              <a:tr h="1645127"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Analysed results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Fault events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Trend data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Historical records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Maintenance data Reduced storage (no raw data)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64359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72F9B73-AA94-042D-B5FC-E70A9270AC13}"/>
              </a:ext>
            </a:extLst>
          </p:cNvPr>
          <p:cNvGraphicFramePr>
            <a:graphicFrameLocks noGrp="1"/>
          </p:cNvGraphicFramePr>
          <p:nvPr/>
        </p:nvGraphicFramePr>
        <p:xfrm>
          <a:off x="8327878" y="3278858"/>
          <a:ext cx="3780670" cy="2042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5407">
                  <a:extLst>
                    <a:ext uri="{9D8B030D-6E8A-4147-A177-3AD203B41FA5}">
                      <a16:colId xmlns:a16="http://schemas.microsoft.com/office/drawing/2014/main" val="1521593380"/>
                    </a:ext>
                  </a:extLst>
                </a:gridCol>
                <a:gridCol w="2315263">
                  <a:extLst>
                    <a:ext uri="{9D8B030D-6E8A-4147-A177-3AD203B41FA5}">
                      <a16:colId xmlns:a16="http://schemas.microsoft.com/office/drawing/2014/main" val="2464006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971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Dashboard (SCADA / IoT)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belt condition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Trend analysis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46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&amp; Notification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warning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fault alerts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222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Validation &amp; Error Rectification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Detect inconsistent sensor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Identify false/erroneous readings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Validate data using multi-sensor correlation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87037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530879-E470-BC78-A63E-DCA36415140A}"/>
              </a:ext>
            </a:extLst>
          </p:cNvPr>
          <p:cNvCxnSpPr/>
          <p:nvPr/>
        </p:nvCxnSpPr>
        <p:spPr>
          <a:xfrm>
            <a:off x="3190368" y="1594871"/>
            <a:ext cx="17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2AD133-CB11-C123-E584-C3CB1DCF02FE}"/>
              </a:ext>
            </a:extLst>
          </p:cNvPr>
          <p:cNvCxnSpPr/>
          <p:nvPr/>
        </p:nvCxnSpPr>
        <p:spPr>
          <a:xfrm>
            <a:off x="6590359" y="1584869"/>
            <a:ext cx="2143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8E7681B-A035-350B-0F3A-69F53E632DD9}"/>
              </a:ext>
            </a:extLst>
          </p:cNvPr>
          <p:cNvCxnSpPr>
            <a:cxnSpLocks/>
          </p:cNvCxnSpPr>
          <p:nvPr/>
        </p:nvCxnSpPr>
        <p:spPr>
          <a:xfrm>
            <a:off x="10129092" y="1584869"/>
            <a:ext cx="2480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80BFA3B-669B-A54D-AD5F-F5A1AA61265A}"/>
              </a:ext>
            </a:extLst>
          </p:cNvPr>
          <p:cNvCxnSpPr/>
          <p:nvPr/>
        </p:nvCxnSpPr>
        <p:spPr>
          <a:xfrm>
            <a:off x="11101799" y="2975606"/>
            <a:ext cx="0" cy="306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CE3A367-29E5-4FD7-0AFC-D6FAEE5F5B1D}"/>
              </a:ext>
            </a:extLst>
          </p:cNvPr>
          <p:cNvGraphicFramePr>
            <a:graphicFrameLocks noGrp="1"/>
          </p:cNvGraphicFramePr>
          <p:nvPr/>
        </p:nvGraphicFramePr>
        <p:xfrm>
          <a:off x="162064" y="5039859"/>
          <a:ext cx="7843079" cy="12522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0098">
                  <a:extLst>
                    <a:ext uri="{9D8B030D-6E8A-4147-A177-3AD203B41FA5}">
                      <a16:colId xmlns:a16="http://schemas.microsoft.com/office/drawing/2014/main" val="4123998410"/>
                    </a:ext>
                  </a:extLst>
                </a:gridCol>
                <a:gridCol w="6272981">
                  <a:extLst>
                    <a:ext uri="{9D8B030D-6E8A-4147-A177-3AD203B41FA5}">
                      <a16:colId xmlns:a16="http://schemas.microsoft.com/office/drawing/2014/main" val="554360851"/>
                    </a:ext>
                  </a:extLst>
                </a:gridCol>
              </a:tblGrid>
              <a:tr h="192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Stages</a:t>
                      </a:r>
                      <a:endParaRPr lang="en-IN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Improvement (Feedback Loop)</a:t>
                      </a:r>
                      <a:endParaRPr lang="en-IN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98665"/>
                  </a:ext>
                </a:extLst>
              </a:tr>
              <a:tr h="26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data; Actual fault events; Maintenance outcomes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070434"/>
                  </a:ext>
                </a:extLst>
              </a:tr>
              <a:tr h="197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Retraining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accuracy; Adapt to new patterns; Update with latest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754000"/>
                  </a:ext>
                </a:extLst>
              </a:tr>
              <a:tr h="197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reliability; Lower maintenance cost; Safer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204763"/>
                  </a:ext>
                </a:extLst>
              </a:tr>
              <a:tr h="26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Update and Continuous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268076"/>
                  </a:ext>
                </a:extLst>
              </a:tr>
            </a:tbl>
          </a:graphicData>
        </a:graphic>
      </p:graphicFrame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D882783-FD97-59CA-57F5-7F9FBA7232AB}"/>
              </a:ext>
            </a:extLst>
          </p:cNvPr>
          <p:cNvCxnSpPr/>
          <p:nvPr/>
        </p:nvCxnSpPr>
        <p:spPr>
          <a:xfrm>
            <a:off x="5820697" y="5447071"/>
            <a:ext cx="0" cy="251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00411B1-FDBA-1B16-A953-0C47550BBA4B}"/>
              </a:ext>
            </a:extLst>
          </p:cNvPr>
          <p:cNvCxnSpPr/>
          <p:nvPr/>
        </p:nvCxnSpPr>
        <p:spPr>
          <a:xfrm flipH="1">
            <a:off x="5555226" y="5693502"/>
            <a:ext cx="2654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Straight Connector 17411">
            <a:extLst>
              <a:ext uri="{FF2B5EF4-FFF2-40B4-BE49-F238E27FC236}">
                <a16:creationId xmlns:a16="http://schemas.microsoft.com/office/drawing/2014/main" id="{F7EE313F-3AE2-5B7F-9089-E2D678D699C0}"/>
              </a:ext>
            </a:extLst>
          </p:cNvPr>
          <p:cNvCxnSpPr/>
          <p:nvPr/>
        </p:nvCxnSpPr>
        <p:spPr>
          <a:xfrm>
            <a:off x="6096000" y="5698106"/>
            <a:ext cx="0" cy="220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Straight Arrow Connector 17413">
            <a:extLst>
              <a:ext uri="{FF2B5EF4-FFF2-40B4-BE49-F238E27FC236}">
                <a16:creationId xmlns:a16="http://schemas.microsoft.com/office/drawing/2014/main" id="{364C983B-5F52-154C-B07D-1A602618BCFD}"/>
              </a:ext>
            </a:extLst>
          </p:cNvPr>
          <p:cNvCxnSpPr/>
          <p:nvPr/>
        </p:nvCxnSpPr>
        <p:spPr>
          <a:xfrm flipH="1">
            <a:off x="5899355" y="5919019"/>
            <a:ext cx="196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Straight Connector 17418">
            <a:extLst>
              <a:ext uri="{FF2B5EF4-FFF2-40B4-BE49-F238E27FC236}">
                <a16:creationId xmlns:a16="http://schemas.microsoft.com/office/drawing/2014/main" id="{3FEDDA79-E7EC-C1FB-4055-2C91B79DB9D2}"/>
              </a:ext>
            </a:extLst>
          </p:cNvPr>
          <p:cNvCxnSpPr/>
          <p:nvPr/>
        </p:nvCxnSpPr>
        <p:spPr>
          <a:xfrm>
            <a:off x="6430297" y="5919019"/>
            <a:ext cx="0" cy="2458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Straight Arrow Connector 17420">
            <a:extLst>
              <a:ext uri="{FF2B5EF4-FFF2-40B4-BE49-F238E27FC236}">
                <a16:creationId xmlns:a16="http://schemas.microsoft.com/office/drawing/2014/main" id="{3F113944-9EB7-8895-5AE5-46CE1EDCAA4A}"/>
              </a:ext>
            </a:extLst>
          </p:cNvPr>
          <p:cNvCxnSpPr/>
          <p:nvPr/>
        </p:nvCxnSpPr>
        <p:spPr>
          <a:xfrm flipH="1">
            <a:off x="6177774" y="6164826"/>
            <a:ext cx="2525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3" name="Straight Arrow Connector 17432">
            <a:extLst>
              <a:ext uri="{FF2B5EF4-FFF2-40B4-BE49-F238E27FC236}">
                <a16:creationId xmlns:a16="http://schemas.microsoft.com/office/drawing/2014/main" id="{375CD8A1-2DBB-679E-68EE-A58249337873}"/>
              </a:ext>
            </a:extLst>
          </p:cNvPr>
          <p:cNvCxnSpPr/>
          <p:nvPr/>
        </p:nvCxnSpPr>
        <p:spPr>
          <a:xfrm flipH="1">
            <a:off x="8005143" y="5447071"/>
            <a:ext cx="3310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5" name="Straight Connector 17434">
            <a:extLst>
              <a:ext uri="{FF2B5EF4-FFF2-40B4-BE49-F238E27FC236}">
                <a16:creationId xmlns:a16="http://schemas.microsoft.com/office/drawing/2014/main" id="{0A4C1CFE-C55B-106D-FBCA-BFBD37C688A1}"/>
              </a:ext>
            </a:extLst>
          </p:cNvPr>
          <p:cNvCxnSpPr/>
          <p:nvPr/>
        </p:nvCxnSpPr>
        <p:spPr>
          <a:xfrm>
            <a:off x="8336165" y="5447071"/>
            <a:ext cx="0" cy="717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9" name="Straight Connector 17438">
            <a:extLst>
              <a:ext uri="{FF2B5EF4-FFF2-40B4-BE49-F238E27FC236}">
                <a16:creationId xmlns:a16="http://schemas.microsoft.com/office/drawing/2014/main" id="{216D31CA-F8E9-94CC-32BB-FC7E76F26C77}"/>
              </a:ext>
            </a:extLst>
          </p:cNvPr>
          <p:cNvCxnSpPr/>
          <p:nvPr/>
        </p:nvCxnSpPr>
        <p:spPr>
          <a:xfrm flipH="1">
            <a:off x="8005143" y="6164826"/>
            <a:ext cx="3310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41" name="Picture 17440">
            <a:extLst>
              <a:ext uri="{FF2B5EF4-FFF2-40B4-BE49-F238E27FC236}">
                <a16:creationId xmlns:a16="http://schemas.microsoft.com/office/drawing/2014/main" id="{77BB6AAA-FC53-1747-D80F-B48EB0F41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3" y="52005"/>
            <a:ext cx="1106345" cy="7002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654ADB-7734-AF71-9EBD-0922EF0C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Template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2FB580-6E60-7810-F527-7A4C8B10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B635AFB3-1ACD-44AC-8702-86B1729DF035}" type="slidenum">
              <a:rPr lang="en-US" sz="1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0B97A-3E0E-0089-470E-56094E1BD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" y="-6618"/>
            <a:ext cx="12185522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2B26709-5B17-F191-C0F5-5607EE70D327}"/>
              </a:ext>
            </a:extLst>
          </p:cNvPr>
          <p:cNvSpPr/>
          <p:nvPr/>
        </p:nvSpPr>
        <p:spPr>
          <a:xfrm>
            <a:off x="0" y="5801359"/>
            <a:ext cx="12185522" cy="1046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32FBA3-D246-AB36-C9B7-094E5539F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6ED185-2E45-43C5-224F-665BE68EA955}"/>
              </a:ext>
            </a:extLst>
          </p:cNvPr>
          <p:cNvSpPr txBox="1"/>
          <p:nvPr/>
        </p:nvSpPr>
        <p:spPr>
          <a:xfrm>
            <a:off x="4591741" y="6463086"/>
            <a:ext cx="324104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7F5D83-0B7B-F72E-C940-E01F25A11780}"/>
              </a:ext>
            </a:extLst>
          </p:cNvPr>
          <p:cNvSpPr txBox="1"/>
          <p:nvPr/>
        </p:nvSpPr>
        <p:spPr>
          <a:xfrm>
            <a:off x="11370658" y="6424614"/>
            <a:ext cx="822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FBE90-760A-0726-C82C-99B4D9C9CDA4}"/>
              </a:ext>
            </a:extLst>
          </p:cNvPr>
          <p:cNvSpPr txBox="1"/>
          <p:nvPr/>
        </p:nvSpPr>
        <p:spPr>
          <a:xfrm>
            <a:off x="489901" y="1830923"/>
            <a:ext cx="35076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Industrial Technologies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machine vision, magnetic NDT, DAS, encoders and load/tension sensing based on established industrial monitoring principles.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C73DCE-80C3-8595-E688-B815955F1249}"/>
              </a:ext>
            </a:extLst>
          </p:cNvPr>
          <p:cNvSpPr txBox="1"/>
          <p:nvPr/>
        </p:nvSpPr>
        <p:spPr>
          <a:xfrm>
            <a:off x="434716" y="2818151"/>
            <a:ext cx="35076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Sensor Fusion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Combines multiple live sensor signals with belt, joint and maintenance history to identify abnormalities and predict failure risk.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A33A2C-5969-663B-06A9-F745EB7ACDAC}"/>
              </a:ext>
            </a:extLst>
          </p:cNvPr>
          <p:cNvSpPr txBox="1"/>
          <p:nvPr/>
        </p:nvSpPr>
        <p:spPr>
          <a:xfrm>
            <a:off x="434716" y="3747541"/>
            <a:ext cx="35076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Infrastructure Integration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:SCADA data can be incorporated without replacing the existing conveyor control system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64E58E-7746-D6DC-D1F1-193FA50EEA4E}"/>
              </a:ext>
            </a:extLst>
          </p:cNvPr>
          <p:cNvSpPr txBox="1"/>
          <p:nvPr/>
        </p:nvSpPr>
        <p:spPr>
          <a:xfrm>
            <a:off x="434716" y="4691921"/>
            <a:ext cx="35076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Prototype-to-Field Validation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system can be validated on a short conveyor section before deployment on long-distance mining conveyors.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1702B3-02D1-362C-3293-CB1A1EE9ABD4}"/>
              </a:ext>
            </a:extLst>
          </p:cNvPr>
          <p:cNvSpPr txBox="1"/>
          <p:nvPr/>
        </p:nvSpPr>
        <p:spPr>
          <a:xfrm>
            <a:off x="1951719" y="690169"/>
            <a:ext cx="33844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8FDFF5-F136-E6BC-EB32-84C8D9D93EFF}"/>
              </a:ext>
            </a:extLst>
          </p:cNvPr>
          <p:cNvSpPr txBox="1"/>
          <p:nvPr/>
        </p:nvSpPr>
        <p:spPr>
          <a:xfrm>
            <a:off x="4479403" y="1822358"/>
            <a:ext cx="35076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Non-Intrusive Monitoring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Sensors continuously monitor belt and joint condition without interrupting material transportation.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8F9281-423D-B6F0-F2C7-A126A0209F5F}"/>
              </a:ext>
            </a:extLst>
          </p:cNvPr>
          <p:cNvSpPr txBox="1"/>
          <p:nvPr/>
        </p:nvSpPr>
        <p:spPr>
          <a:xfrm>
            <a:off x="4479403" y="2773680"/>
            <a:ext cx="346571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Failure Warning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Detects abnormal conditions and developing damage before they progress into major conveyor failures.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A2736C-56AE-4408-B104-5DF98BC08B37}"/>
              </a:ext>
            </a:extLst>
          </p:cNvPr>
          <p:cNvSpPr txBox="1"/>
          <p:nvPr/>
        </p:nvSpPr>
        <p:spPr>
          <a:xfrm>
            <a:off x="4434840" y="3747541"/>
            <a:ext cx="35076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AI-based health assessment helps maintenance teams plan inspections and repairs before unplanned breakdowns.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A7FFF4-2A02-6A85-398D-F12C06FFD667}"/>
              </a:ext>
            </a:extLst>
          </p:cNvPr>
          <p:cNvSpPr txBox="1"/>
          <p:nvPr/>
        </p:nvSpPr>
        <p:spPr>
          <a:xfrm>
            <a:off x="4479403" y="4632960"/>
            <a:ext cx="346571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Monitoring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IoT/SCADA dashboard provides belt health, fault location, alerts and historical trends in one platform.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F9891C-DAC2-A52E-B78F-9D9788961631}"/>
              </a:ext>
            </a:extLst>
          </p:cNvPr>
          <p:cNvSpPr txBox="1"/>
          <p:nvPr/>
        </p:nvSpPr>
        <p:spPr>
          <a:xfrm>
            <a:off x="8413959" y="1812198"/>
            <a:ext cx="33528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Mine-Wide Deployment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same architecture can be expanded from one critical conveyor to multiple conveyors across a mine.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6D9694-10DF-74F7-3883-416A104D8E9B}"/>
              </a:ext>
            </a:extLst>
          </p:cNvPr>
          <p:cNvSpPr txBox="1"/>
          <p:nvPr/>
        </p:nvSpPr>
        <p:spPr>
          <a:xfrm>
            <a:off x="8413959" y="2818151"/>
            <a:ext cx="334332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4.0 Ready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Integrates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IoT, AI/ML, real-time sensing and data analytics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transform conventional conveyor monitoring into a smart cyber-physical system.</a:t>
            </a:r>
          </a:p>
          <a:p>
            <a:endParaRPr lang="en-IN" sz="11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CDA72C-54A5-3D72-BC6E-1042DA369822}"/>
              </a:ext>
            </a:extLst>
          </p:cNvPr>
          <p:cNvSpPr txBox="1"/>
          <p:nvPr/>
        </p:nvSpPr>
        <p:spPr>
          <a:xfrm>
            <a:off x="8411377" y="3669625"/>
            <a:ext cx="32497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Indigenous Technology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Viksit Bharat 2047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a pathway toward an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India-developed predictive-maintenance solution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mining infrastructure, supporting technology.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711F1A-CB78-B33A-21C5-CB8338170A69}"/>
              </a:ext>
            </a:extLst>
          </p:cNvPr>
          <p:cNvSpPr txBox="1"/>
          <p:nvPr/>
        </p:nvSpPr>
        <p:spPr>
          <a:xfrm>
            <a:off x="8413959" y="4607638"/>
            <a:ext cx="324713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Alignment: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to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(Decent Work), SDG 9 (Industry &amp; Innovation), SDG 12 (Responsible Production) and SDG 13 (Climate Action)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safer operations, technological innovation and improved resource efficiency.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0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639097" y="266461"/>
            <a:ext cx="10972800" cy="610077"/>
          </a:xfrm>
          <a:prstGeom prst="rect">
            <a:avLst/>
          </a:prstGeom>
        </p:spPr>
        <p:txBody>
          <a:bodyPr vert="horz" wrap="square" lIns="0" tIns="55537" rIns="0" bIns="0" rtlCol="0">
            <a:spAutoFit/>
          </a:bodyPr>
          <a:lstStyle/>
          <a:p>
            <a:pPr marL="2136140">
              <a:lnSpc>
                <a:spcPct val="100000"/>
              </a:lnSpc>
              <a:spcBef>
                <a:spcPts val="100"/>
              </a:spcBef>
            </a:pPr>
            <a:r>
              <a:rPr sz="3600" b="1" spc="-7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sz="3600" b="1" spc="-254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600" b="1" spc="5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1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064378" y="6424391"/>
            <a:ext cx="236855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/>
              <a:t>@SIH</a:t>
            </a:r>
            <a:r>
              <a:rPr lang="en-IN" spc="114"/>
              <a:t> </a:t>
            </a:r>
            <a:r>
              <a:rPr lang="en-IN"/>
              <a:t>Idea</a:t>
            </a:r>
            <a:r>
              <a:rPr lang="en-IN" spc="120"/>
              <a:t> </a:t>
            </a:r>
            <a:r>
              <a:rPr lang="en-IN"/>
              <a:t>submission-</a:t>
            </a:r>
            <a:r>
              <a:rPr lang="en-IN" spc="120"/>
              <a:t> </a:t>
            </a:r>
            <a:r>
              <a:rPr lang="en-IN" spc="-10"/>
              <a:t>Template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360937" y="6445830"/>
            <a:ext cx="18097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IN" spc="-50" smtClean="0"/>
              <a:pPr marL="38100">
                <a:lnSpc>
                  <a:spcPct val="100000"/>
                </a:lnSpc>
                <a:spcBef>
                  <a:spcPts val="10"/>
                </a:spcBef>
              </a:pPr>
              <a:t>5</a:t>
            </a:fld>
            <a:endParaRPr spc="-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C98AC2-1423-0BD3-0038-ABF7030C7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@SIH Idea submission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2FDDB9-7563-D618-A421-7109FA489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44" y="111892"/>
            <a:ext cx="1314610" cy="95118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3D0AF3-7D5D-2972-9F27-F107E3DFF20E}"/>
              </a:ext>
            </a:extLst>
          </p:cNvPr>
          <p:cNvSpPr/>
          <p:nvPr/>
        </p:nvSpPr>
        <p:spPr>
          <a:xfrm>
            <a:off x="162244" y="1084740"/>
            <a:ext cx="4630993" cy="513106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Production, Safety &amp; Maintenance Impact 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Production Protection: Early detection of belt and splice deterioration prevents unexpected failures and the associated production losses.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Maintenance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AI-based warnings allow repairs to be scheduled during planned shutdowns instead of emergency breakdowns.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Maintenance Cost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Early intervention reduces secondary damage, emergency repair requirements and prolonged downtime.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Safety &amp; Reliability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Continuous monitoring reduces manual inspection requirements and provides early warning of hazardous belt conditions.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B0B7793-E127-911F-FC4C-883AB5956CC0}"/>
              </a:ext>
            </a:extLst>
          </p:cNvPr>
          <p:cNvSpPr/>
          <p:nvPr/>
        </p:nvSpPr>
        <p:spPr>
          <a:xfrm>
            <a:off x="5220929" y="1122875"/>
            <a:ext cx="5329084" cy="185521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A16FD-65AF-785E-FF39-EFDE50BEA499}"/>
              </a:ext>
            </a:extLst>
          </p:cNvPr>
          <p:cNvSpPr txBox="1"/>
          <p:nvPr/>
        </p:nvSpPr>
        <p:spPr>
          <a:xfrm>
            <a:off x="5466736" y="1309415"/>
            <a:ext cx="50046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Example:NMDC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Bailadila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Illustrative Cost–Impact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NMDC's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Bailadila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 in Chhattisgarh is a suitable real-world reference because it is a major iron-ore mining operation with extensive conveyor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infrastructure.Example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assumption:2,500 TPH conveyor + NMDC iron-ore realization of approximately ₹4,700/t.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CC7793A-3588-D196-B784-4641AE0EB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968726"/>
              </p:ext>
            </p:extLst>
          </p:nvPr>
        </p:nvGraphicFramePr>
        <p:xfrm>
          <a:off x="5220929" y="3164632"/>
          <a:ext cx="6073943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13619">
                  <a:extLst>
                    <a:ext uri="{9D8B030D-6E8A-4147-A177-3AD203B41FA5}">
                      <a16:colId xmlns:a16="http://schemas.microsoft.com/office/drawing/2014/main" val="3778623124"/>
                    </a:ext>
                  </a:extLst>
                </a:gridCol>
                <a:gridCol w="2160324">
                  <a:extLst>
                    <a:ext uri="{9D8B030D-6E8A-4147-A177-3AD203B41FA5}">
                      <a16:colId xmlns:a16="http://schemas.microsoft.com/office/drawing/2014/main" val="2935674466"/>
                    </a:ext>
                  </a:extLst>
                </a:gridCol>
              </a:tblGrid>
              <a:tr h="27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936117"/>
                  </a:ext>
                </a:extLst>
              </a:tr>
              <a:tr h="27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installation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₹30–40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304330"/>
                  </a:ext>
                </a:extLst>
              </a:tr>
              <a:tr h="27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Conveyor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2,500 TPH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519647"/>
                  </a:ext>
                </a:extLst>
              </a:tr>
              <a:tr h="27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Ore transported/hour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2,500 tonnes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965739"/>
                  </a:ext>
                </a:extLst>
              </a:tr>
              <a:tr h="27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 value/hour*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 ₹1.18 crore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14385"/>
                  </a:ext>
                </a:extLst>
              </a:tr>
              <a:tr h="27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h downtime avoided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 ₹14.2 crore protected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519697"/>
                  </a:ext>
                </a:extLst>
              </a:tr>
              <a:tr h="27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h downtime avoided/year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 ₹28.4 crore protected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578942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200F79B-A606-34F1-8E22-05674E6F404D}"/>
              </a:ext>
            </a:extLst>
          </p:cNvPr>
          <p:cNvSpPr/>
          <p:nvPr/>
        </p:nvSpPr>
        <p:spPr>
          <a:xfrm>
            <a:off x="4847303" y="5784802"/>
            <a:ext cx="7162788" cy="503239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7246F6-412C-F5F5-F2F9-59D49A60A02C}"/>
              </a:ext>
            </a:extLst>
          </p:cNvPr>
          <p:cNvSpPr txBox="1"/>
          <p:nvPr/>
        </p:nvSpPr>
        <p:spPr>
          <a:xfrm>
            <a:off x="4881716" y="5756690"/>
            <a:ext cx="7093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Illustrative estimate only; actual savings depend on operating costs, profit margins and downtime recovery.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245806" y="197908"/>
            <a:ext cx="10972800" cy="610077"/>
          </a:xfrm>
          <a:prstGeom prst="rect">
            <a:avLst/>
          </a:prstGeom>
        </p:spPr>
        <p:txBody>
          <a:bodyPr vert="horz" wrap="square" lIns="0" tIns="55537" rIns="0" bIns="0" rtlCol="0">
            <a:spAutoFit/>
          </a:bodyPr>
          <a:lstStyle/>
          <a:p>
            <a:pPr marL="13081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sz="3600" b="1" spc="655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600" b="1" spc="-2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1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09600" y="1242859"/>
            <a:ext cx="10972800" cy="53091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300"/>
              </a:spcBef>
              <a:buNone/>
              <a:tabLst>
                <a:tab pos="355600" algn="l"/>
              </a:tabLst>
            </a:pPr>
            <a:endParaRPr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0117" y="1079"/>
            <a:ext cx="2249639" cy="10619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064378" y="6424391"/>
            <a:ext cx="236855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@SIH</a:t>
            </a:r>
            <a:r>
              <a:rPr lang="en-IN" spc="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lang="en-IN" spc="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submission-</a:t>
            </a:r>
            <a:r>
              <a:rPr lang="en-IN" spc="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360937" y="6445830"/>
            <a:ext cx="18097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lang="en-IN" spc="-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marL="38100">
                <a:lnSpc>
                  <a:spcPct val="100000"/>
                </a:lnSpc>
                <a:spcBef>
                  <a:spcPts val="10"/>
                </a:spcBef>
              </a:pPr>
              <a:t>6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8F5FF0-F20D-96FB-6697-FFB59ADBD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82" y="149011"/>
            <a:ext cx="1314610" cy="95118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56AAF0-84DF-C24E-1C5D-5C2D889E8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2841"/>
              </p:ext>
            </p:extLst>
          </p:nvPr>
        </p:nvGraphicFramePr>
        <p:xfrm>
          <a:off x="530942" y="1166270"/>
          <a:ext cx="11189110" cy="53504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0505">
                  <a:extLst>
                    <a:ext uri="{9D8B030D-6E8A-4147-A177-3AD203B41FA5}">
                      <a16:colId xmlns:a16="http://schemas.microsoft.com/office/drawing/2014/main" val="2906278623"/>
                    </a:ext>
                  </a:extLst>
                </a:gridCol>
                <a:gridCol w="7934516">
                  <a:extLst>
                    <a:ext uri="{9D8B030D-6E8A-4147-A177-3AD203B41FA5}">
                      <a16:colId xmlns:a16="http://schemas.microsoft.com/office/drawing/2014/main" val="1871829589"/>
                    </a:ext>
                  </a:extLst>
                </a:gridCol>
                <a:gridCol w="2424089">
                  <a:extLst>
                    <a:ext uri="{9D8B030D-6E8A-4147-A177-3AD203B41FA5}">
                      <a16:colId xmlns:a16="http://schemas.microsoft.com/office/drawing/2014/main" val="1251336617"/>
                    </a:ext>
                  </a:extLst>
                </a:gridCol>
              </a:tblGrid>
              <a:tr h="428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marL="61351" marR="61351" marT="30676" marB="30676" anchor="ctr"/>
                </a:tc>
                <a:extLst>
                  <a:ext uri="{0D108BD9-81ED-4DB2-BD59-A6C34878D82A}">
                    <a16:rowId xmlns:a16="http://schemas.microsoft.com/office/drawing/2014/main" val="1839973928"/>
                  </a:ext>
                </a:extLst>
              </a:tr>
              <a:tr h="7923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Fault Detection System for Mining Conveyor using Distributed Acoustic Sensor — Wijaya et al., Measurement, 2022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351" marR="61351" marT="30676" marB="30676" anchor="ctr"/>
                </a:tc>
                <a:extLst>
                  <a:ext uri="{0D108BD9-81ED-4DB2-BD59-A6C34878D82A}">
                    <a16:rowId xmlns:a16="http://schemas.microsoft.com/office/drawing/2014/main" val="1235021911"/>
                  </a:ext>
                </a:extLst>
              </a:tr>
              <a:tr h="7778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Damage Detection of Mining Conveyor Belt — Zhang et al., Measurement, 2021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351" marR="61351" marT="30676" marB="30676" anchor="ctr"/>
                </a:tc>
                <a:extLst>
                  <a:ext uri="{0D108BD9-81ED-4DB2-BD59-A6C34878D82A}">
                    <a16:rowId xmlns:a16="http://schemas.microsoft.com/office/drawing/2014/main" val="2043932064"/>
                  </a:ext>
                </a:extLst>
              </a:tr>
              <a:tr h="975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Magnetic Methods in Monitoring Changes of the Technical Condition of Splices in Steel Cord Conveyor Belts — Kozłowski et al., Engineering Failure Analysis, 2019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351" marR="61351" marT="30676" marB="30676" anchor="ctr"/>
                </a:tc>
                <a:extLst>
                  <a:ext uri="{0D108BD9-81ED-4DB2-BD59-A6C34878D82A}">
                    <a16:rowId xmlns:a16="http://schemas.microsoft.com/office/drawing/2014/main" val="3265873953"/>
                  </a:ext>
                </a:extLst>
              </a:tr>
              <a:tr h="6094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Diagnostics of Conveyor Belt Splices — Kozłowski et al., Applied Sciences, 2020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351" marR="61351" marT="30676" marB="30676" anchor="ctr"/>
                </a:tc>
                <a:extLst>
                  <a:ext uri="{0D108BD9-81ED-4DB2-BD59-A6C34878D82A}">
                    <a16:rowId xmlns:a16="http://schemas.microsoft.com/office/drawing/2014/main" val="1419085325"/>
                  </a:ext>
                </a:extLst>
              </a:tr>
              <a:tr h="975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of Damage Development in the Core of Steel Cord Belts with the Diagnostic System — Błażej et al., Scientific Reports, 2021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351" marR="61351" marT="30676" marB="30676" anchor="ctr"/>
                </a:tc>
                <a:extLst>
                  <a:ext uri="{0D108BD9-81ED-4DB2-BD59-A6C34878D82A}">
                    <a16:rowId xmlns:a16="http://schemas.microsoft.com/office/drawing/2014/main" val="146930555"/>
                  </a:ext>
                </a:extLst>
              </a:tr>
              <a:tr h="7923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on the Working Condition Monitoring and Protecting System for Mine Belt Conveyor — Huang, 2011</a:t>
                      </a:r>
                    </a:p>
                  </a:txBody>
                  <a:tcPr marL="61351" marR="61351" marT="30676" marB="306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351" marR="61351" marT="30676" marB="30676" anchor="ctr"/>
                </a:tc>
                <a:extLst>
                  <a:ext uri="{0D108BD9-81ED-4DB2-BD59-A6C34878D82A}">
                    <a16:rowId xmlns:a16="http://schemas.microsoft.com/office/drawing/2014/main" val="21088052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8499</TotalTime>
  <Words>1224</Words>
  <Application>Microsoft Office PowerPoint</Application>
  <PresentationFormat>Widescreen</PresentationFormat>
  <Paragraphs>164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Intelligent AI-Based Monitoring and Prediction of Conveyor  Belt Failures in Iron Ore Mines</vt:lpstr>
      <vt:lpstr>TECHNICAL APPROACH</vt:lpstr>
      <vt:lpstr>PowerPoint Presentation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Visaonth Jayakumar</cp:lastModifiedBy>
  <cp:revision>204</cp:revision>
  <dcterms:created xsi:type="dcterms:W3CDTF">2013-12-12T18:46:50Z</dcterms:created>
  <dcterms:modified xsi:type="dcterms:W3CDTF">2026-09-21T13:57:08Z</dcterms:modified>
  <cp:category/>
</cp:coreProperties>
</file>