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Editable placeholders remain for the SIH problem statement ID, team ID and registered team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The system separates static susceptibility from dynamic early-warning inputs to avoid presenting a susceptibility map as a complete warning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Model design must prevent post-event information leakage and spatial leakage between neighbouring pixels.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References accessed for project design: Copernicus Data Space, NASA GPM, USGS SRTM, Geological Survey of India Bhukosh, QGIS and scikit-learn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E1DC-A71F-4D22-B7EC-79406DC8F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8147D-176F-4189-B645-470F6EED7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290D3-B856-4861-8D0D-858D0A2EBD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60792E3-D524-454C-8AFD-A91972900BCB}" type="datetime1">
              <a:t>9/14/2026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92F56-0AB7-44A4-BE3D-7FD99EC5C7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C86EA-C4B6-4B2A-8E74-56B8A3803D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5B7E1BAA-A38D-40DE-B22C-DF9BD7D820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713C-BAC8-474F-8D15-6F6AC114C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C007D-4F3C-4863-9205-EAC707C06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BCDF8-D831-406B-A8F6-BF699996B4D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08B7524-32A2-4C20-A58C-BC3BAA1042FC}" type="datetime1">
              <a:t>9/14/2026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2C295-A9C7-42D5-A411-955CE9829E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54266-5162-4205-9696-E0B3C499FF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77C3CE7-23F7-4828-823C-E0205DF2C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FC559-7D4B-43B7-A8C8-705AF9E7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FE7CD-FAF1-4FF0-BF07-D7ECCFFBA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53B37-868C-48FF-97E7-099733D283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E994447-D6B2-43BB-A877-57F1A267B999}" type="datetime1">
              <a:t>9/14/2026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C16E5-3216-4CB4-BAC2-A2E11DF69F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A7AF6-2089-47EE-A6E1-8A76E77545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41DB31D2-2A87-4F4C-A9AD-05C6CC2B321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4B889-F619-4576-B667-7209EC3E7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32277-28AC-4571-94A8-F4EE22CA7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61AB9-C91E-462D-B718-55B4C7E6076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2A08D5F-0B2D-4A58-9239-D59DD99C858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8920E16-BD35-483C-AA6B-346FC7E46DEA}" type="datetime1">
              <a:t>9/14/2026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522C20-1144-4EC7-93B6-1EF54E0E1E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2F33575-DCF0-46C0-95A4-1FF0EF8C41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1FC16D9-1635-4844-816A-0A8A2160FAD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71BB3-A827-460E-87DC-95844EAB5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531F9-D75A-45E4-B440-B293EB0DD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F04B7-341B-4D49-A606-2B9C1304E8E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288D45-647C-4875-A66A-672AFB0D25B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C598FB-0EC4-4636-87F4-147344BEC11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C6E60D-AD3F-4CF8-99F2-3A44BB1489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EAC6F8-5103-4FC0-A69E-5C6AE6469DA8}" type="datetime1">
              <a:t>9/14/2026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5C484C8-A45F-4150-982F-D3EF20275D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C604E4-4541-478E-9863-E5ECBA01BB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1C4100A-98DE-4944-910A-A93F5CA9F7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83D7-96BA-40FC-8E20-2A274B2E9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4B4FF57-7A9B-4B8F-AA90-696C1FC5E8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60C6921-0627-4C8F-83D5-0CF936D2FFDD}" type="datetime1">
              <a:t>9/14/2026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CF017E8-111C-46FD-8A96-0086B45FD8D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3A19C56-CEBA-4ECE-868B-16703DE21C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A63342B-5A73-45DC-864D-086DE78037E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B0B6B1A-9004-4767-B94B-B09C1097380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F08AD7-8103-40F8-983C-E2BA6BB9CBE0}" type="datetime1">
              <a:t>9/14/2026</a:t>
            </a:fld>
            <a:endParaRPr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F1F19B5-8729-4EE3-9BEB-25462FF1D8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6B20F3C-6559-4E95-9403-67335C56A8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B635AFB3-1ACD-44AC-8702-86B1729DF03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99D31-9A6C-4FFB-92DD-E8D1AF920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53CE9-5CC3-4F86-9FA0-0F366134D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3504E8-B1A5-49CF-95E1-2538BE42C45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4EC18A7-0EA8-4B18-A8BC-7DAF1972E02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DF8C06B4-9380-4A4D-AF49-A3596E17DAF5}" type="datetime1">
              <a:t>9/14/2026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5C87B6F-FBA7-48CC-BA00-4A0689869E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FA05D2-014B-4437-B152-A8DDC78783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CF15F3-5E77-4C57-9E21-50D6D1D6C02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875DB-947C-48B4-943F-165458629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0F6C0C-FF9B-4938-940D-883D12158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2A06F-6950-401F-9BEC-02F8A9F77CE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F608266-3E77-426E-8188-5810EC46FE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F7FDEF1-C582-4E22-9E77-D68326471F28}" type="datetime1">
              <a:t>9/14/2026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33D441A-263C-47BA-990D-DB606E90A3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26C351-FE67-4516-A4F9-167DD9C462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242169A-B3C7-4FB6-967F-AF95F4EB33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B1E00-9BB2-458F-86F5-6A51ABE6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FD22F-C49F-4AD2-A860-8023C8541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5153A-8DE0-45EA-9FEA-1378F8D406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3C3A68-6922-42D3-8905-ECC2D82A3469}" type="datetime1">
              <a:t>9/14/2026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52E8B-7CF1-4C54-B122-BA6F8B4D699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230B0-B520-450D-BD00-43E562634A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94FDD027-5576-4F27-AAB6-1D994836EE7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C42F40-7AAA-4195-BBAE-B633ECA95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16878E-496D-436E-A99C-0284A3454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25083-F8C1-4C33-97E2-0C468C27DE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B69E9F4-7604-4950-A8B2-8ACDEDB1506E}" type="datetime1">
              <a:t>9/14/2026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CCB16-E1A0-4FBB-A697-1C5504DB341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D7747-EE47-418F-987F-AFF54C120F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957CE61-8714-431B-A40A-01B1C5541AB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D2729A7-4894-4178-9712-AADC8CB4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C7AEECD-8D6B-4587-9446-D61709CCA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9C077-9E64-425F-BE43-F0CC6758D6B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780A9602-A9A9-453F-AEF1-37B5837E02CD}" type="datetime1">
              <a:t>9/14/2026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F83BE-0BE6-469A-AE9D-DD283F6ACA5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5994C-4241-4E3E-9BBD-7A7B8EC8721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noGrp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43" name="Picture 4"/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BFBC92D5-48C9-40E4-9C78-151A39FBE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>
            <a:normAutofit/>
          </a:bodyPr>
          <a:lstStyle/>
          <a:p>
            <a:pPr>
              <a:buNone/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AI-BASED EARLY WARNING AND LANDSLIDE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buNone/>
              <a:defRPr sz="22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RISK MONITORING SYSTEM IN NER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6E76840-E8FE-4D99-AEF8-E5E45843B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FAE82A-5B15-4C6A-B63B-53010C1D464E}"/>
              </a:ext>
            </a:extLst>
          </p:cNvPr>
          <p:cNvSpPr>
            <a:spLocks noGrp="1"/>
          </p:cNvSpPr>
          <p:nvPr/>
        </p:nvSpPr>
        <p:spPr>
          <a:xfrm>
            <a:off x="331280" y="2000250"/>
            <a:ext cx="6143625" cy="43338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28600" indent="-114300">
              <a:spcAft>
                <a:spcPts val="800"/>
              </a:spcAft>
              <a:buChar char="•"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Problem Statement ID: 26008</a:t>
            </a:r>
          </a:p>
          <a:p>
            <a:pPr marL="228600" indent="-114300">
              <a:spcAft>
                <a:spcPts val="800"/>
              </a:spcAft>
              <a:buChar char="•"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Problem Statement Title: AI-Based Early Warning and Landslide Risk Monitoring System in NER</a:t>
            </a:r>
          </a:p>
          <a:p>
            <a:pPr marL="228600" indent="-114300">
              <a:spcAft>
                <a:spcPts val="800"/>
              </a:spcAft>
              <a:buChar char="•"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Theme: Disaster Management</a:t>
            </a:r>
          </a:p>
          <a:p>
            <a:pPr marL="228600" indent="-114300">
              <a:spcAft>
                <a:spcPts val="800"/>
              </a:spcAft>
              <a:buChar char="•"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PS Category: Software</a:t>
            </a:r>
          </a:p>
          <a:p>
            <a:pPr marL="228600" indent="-114300">
              <a:spcAft>
                <a:spcPts val="800"/>
              </a:spcAft>
              <a:buChar char="•"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Team ID: SIH26-A0H-T114</a:t>
            </a:r>
          </a:p>
          <a:p>
            <a:pPr marL="228600" indent="-114300">
              <a:spcAft>
                <a:spcPts val="800"/>
              </a:spcAft>
              <a:buChar char="•"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Team Name: Sergio</a:t>
            </a:r>
          </a:p>
        </p:txBody>
      </p:sp>
      <p:pic>
        <p:nvPicPr>
          <p:cNvPr id="47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110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E732777-F40C-4FA9-81F7-301B140C22F6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B1E5B552-785D-400E-BF46-EA4332925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>
            <a:normAutofit/>
          </a:bodyPr>
          <a:lstStyle/>
          <a:p>
            <a:pPr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dirty="0">
                <a:solidFill>
                  <a:srgbClr val="11111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IDEA TITLE: LANDSLIDEAI-NER</a:t>
            </a:r>
          </a:p>
        </p:txBody>
      </p:sp>
      <p:sp>
        <p:nvSpPr>
          <p:cNvPr id="15362" name="TextBox 8">
            <a:extLst>
              <a:ext uri="{FF2B5EF4-FFF2-40B4-BE49-F238E27FC236}">
                <a16:creationId xmlns:a16="http://schemas.microsoft.com/office/drawing/2014/main" id="{806C175B-2B04-46EE-8A04-B8632191B4E5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11096625" cy="4619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rmAutofit/>
          </a:bodyPr>
          <a:lstStyle/>
          <a:p>
            <a:pPr marL="228600" indent="-114300">
              <a:spcAft>
                <a:spcPts val="800"/>
              </a:spcAft>
              <a:buChar char="•"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Proposed solution: a GIS and machine-learning platform that estimates location-specific landslide probability across Northeast India.</a:t>
            </a:r>
          </a:p>
          <a:p>
            <a:pPr marL="228600" indent="-114300">
              <a:spcAft>
                <a:spcPts val="800"/>
              </a:spcAft>
              <a:buChar char="•"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Static susceptibility inputs: elevation, slope, aspect, curvature, geology, soil, land cover, drainage and road proximity.</a:t>
            </a:r>
          </a:p>
          <a:p>
            <a:pPr marL="228600" indent="-114300">
              <a:spcAft>
                <a:spcPts val="800"/>
              </a:spcAft>
              <a:buChar char="•"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Dynamic warning inputs: daily rainfall, 3-day and 7-day antecedent rainfall, soil moisture and recent Sentinel-2 indices.</a:t>
            </a:r>
          </a:p>
          <a:p>
            <a:pPr marL="228600" indent="-114300">
              <a:spcAft>
                <a:spcPts val="800"/>
              </a:spcAft>
              <a:buChar char="•"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Logistic regression converts the combined features into an interpretable probability score and risk category.</a:t>
            </a:r>
          </a:p>
          <a:p>
            <a:pPr marL="228600" indent="-114300">
              <a:spcAft>
                <a:spcPts val="800"/>
              </a:spcAft>
              <a:buChar char="•"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QGIS displays low-to-very-high risk zones; the monitoring layer can trigger district-level dashboard alerts.</a:t>
            </a:r>
          </a:p>
          <a:p>
            <a:pPr marL="228600" indent="-114300">
              <a:spcAft>
                <a:spcPts val="800"/>
              </a:spcAft>
              <a:buChar char="•"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Innovation: one explainable workflow links long-term susceptibility with time-dependent rainfall signals for operational monitoring.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158D2-6D1A-4A14-9C36-C0127744B1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608C1A-6299-4FE7-B67E-E4F05A65F32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537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ACACE2-943E-199F-5FE8-70CE749B5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14325" y="215900"/>
            <a:ext cx="12954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52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A75427BA-A21E-4758-A0ED-7789CB3F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 dirty="0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653B4650-A850-4CD6-AE2E-D7CB89B6020C}"/>
              </a:ext>
            </a:extLst>
          </p:cNvPr>
          <p:cNvSpPr>
            <a:spLocks noGrp="1"/>
          </p:cNvSpPr>
          <p:nvPr/>
        </p:nvSpPr>
        <p:spPr>
          <a:xfrm>
            <a:off x="523875" y="1381125"/>
            <a:ext cx="11096625" cy="47625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rmAutofit/>
          </a:bodyPr>
          <a:lstStyle/>
          <a:p>
            <a:pPr marL="228600" indent="-114300">
              <a:spcAft>
                <a:spcPts val="800"/>
              </a:spcAft>
              <a:buChar char="•"/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Tools: QGIS for clipping, reprojection, raster alignment and feature extraction; Python/Jupyter for modelling; scikit-learn for logistic regression.</a:t>
            </a:r>
          </a:p>
          <a:p>
            <a:pPr marL="228600" indent="-114300">
              <a:spcAft>
                <a:spcPts val="800"/>
              </a:spcAft>
              <a:buChar char="•"/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Data: NER boundary, landslide inventory, SRTM DEM, Sentinel-2 imagery, rainfall records, soil, geology, roads and drainage.</a:t>
            </a:r>
          </a:p>
          <a:p>
            <a:pPr marL="228600" indent="-114300">
              <a:spcAft>
                <a:spcPts val="800"/>
              </a:spcAft>
              <a:buChar char="•"/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Pre-processing: align CRS, extent and resolution; calculate slope, aspect, NDVI and NDWI; derive antecedent rainfall features.</a:t>
            </a:r>
          </a:p>
          <a:p>
            <a:pPr marL="228600" indent="-114300">
              <a:spcAft>
                <a:spcPts val="800"/>
              </a:spcAft>
              <a:buChar char="•"/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Dataset: each row represents one location-date pair with predictor values and Landslide = 1 or 0.</a:t>
            </a:r>
          </a:p>
          <a:p>
            <a:pPr marL="228600" indent="-114300">
              <a:spcAft>
                <a:spcPts val="800"/>
              </a:spcAft>
              <a:buChar char="•"/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Model: clean and encode data, check multicollinearity, scale numerical variables, train logistic regression and calibrate probability thresholds.</a:t>
            </a:r>
          </a:p>
          <a:p>
            <a:pPr marL="228600" indent="-114300">
              <a:spcAft>
                <a:spcPts val="800"/>
              </a:spcAft>
              <a:buChar char="•"/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Validation: use spatial or temporal hold-out data; report recall, specificity, F1-score, ROC-AUC and false negatives.</a:t>
            </a:r>
          </a:p>
          <a:p>
            <a:pPr marL="228600" indent="-114300">
              <a:spcAft>
                <a:spcPts val="800"/>
              </a:spcAft>
              <a:buChar char="•"/>
              <a:defRPr sz="1313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111111"/>
                </a:solidFill>
                <a:latin typeface="Arial"/>
                <a:ea typeface="Arial"/>
                <a:cs typeface="Arial"/>
              </a:rPr>
              <a:t>Output: export pixel probabilities to QGIS, classify risk zones and display alerts on a monitoring dashboard.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0A1F7-273A-43F9-B7AE-F1AE3B7C94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D5EFA12-399F-4E2E-B8C8-9F07918844F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>
              <a:buNone/>
              <a:defRPr sz="900" b="1">
                <a:latin typeface="Arial"/>
                <a:ea typeface="Arial"/>
                <a:cs typeface="Arial"/>
              </a:defRPr>
            </a:pPr>
            <a:r>
              <a:rPr sz="900" b="1">
                <a:latin typeface="Arial"/>
                <a:ea typeface="Arial"/>
                <a:cs typeface="Arial"/>
              </a:rPr>
              <a:t>SERGIO</a:t>
            </a:r>
            <a:endParaRPr/>
          </a:p>
        </p:txBody>
      </p:sp>
      <p:pic>
        <p:nvPicPr>
          <p:cNvPr id="17423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24" name="Picture 174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14325" y="215900"/>
            <a:ext cx="12954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86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25B5BBF6-58D6-4F07-BE4E-336D83B9A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ABF4BECD-DEF3-4A9E-830E-702C338468A8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11096625" cy="45720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rmAutofit/>
          </a:bodyPr>
          <a:lstStyle/>
          <a:p>
            <a:pPr marL="228600" indent="-114300">
              <a:spcAft>
                <a:spcPts val="800"/>
              </a:spcAft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Feasible prototype: QGIS, Python and Jupyter are open-source; Sentinel-2, SRTM and satellite rainfall products provide scalable inputs.</a:t>
            </a:r>
          </a:p>
          <a:p>
            <a:pPr marL="228600" indent="-114300">
              <a:spcAft>
                <a:spcPts val="800"/>
              </a:spcAft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Hackathon scope: validate one landslide-prone pilot district or corridor, then extend the same pipeline across the eight NER states.</a:t>
            </a:r>
          </a:p>
          <a:p>
            <a:pPr marL="228600" indent="-114300">
              <a:spcAft>
                <a:spcPts val="800"/>
              </a:spcAft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Risk: incomplete landslide inventories can create incorrect non-landslide labels. Mitigation: verify events and use buffered sampling.</a:t>
            </a:r>
          </a:p>
          <a:p>
            <a:pPr marL="228600" indent="-114300">
              <a:spcAft>
                <a:spcPts val="800"/>
              </a:spcAft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Risk: neighbouring pixels can inflate accuracy. Mitigation: reserve geographically separate blocks or later time periods for testing.</a:t>
            </a:r>
          </a:p>
          <a:p>
            <a:pPr marL="228600" indent="-114300">
              <a:spcAft>
                <a:spcPts val="800"/>
              </a:spcAft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Risk: cloud cover and delayed observations can interrupt dynamic inputs. Mitigation: retain rainfall-based warnings and flag stale satellite data.</a:t>
            </a:r>
          </a:p>
          <a:p>
            <a:pPr marL="228600" indent="-114300">
              <a:spcAft>
                <a:spcPts val="800"/>
              </a:spcAft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Deployment path: scheduled data ingestion, model inference, QGIS/web map update and authority-approved alert delivery.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F8BFB-078D-408C-B1A9-227CC54377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8E32265-3CF9-4650-A879-2192FF2EC9C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>
              <a:buNone/>
              <a:defRPr sz="900" b="1">
                <a:latin typeface="Arial"/>
                <a:ea typeface="Arial"/>
                <a:cs typeface="Arial"/>
              </a:defRPr>
            </a:pPr>
            <a:r>
              <a:rPr sz="900" b="1">
                <a:latin typeface="Arial"/>
                <a:ea typeface="Arial"/>
                <a:cs typeface="Arial"/>
              </a:rPr>
              <a:t>SERGIO</a:t>
            </a:r>
            <a:endParaRPr/>
          </a:p>
        </p:txBody>
      </p:sp>
      <p:pic>
        <p:nvPicPr>
          <p:cNvPr id="17419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20" name="Picture 174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14325" y="215900"/>
            <a:ext cx="12954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F225A4D5-CF0E-40DE-9194-0668638DD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367874CA-4B9D-473D-9319-1E713D5D9655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11096625" cy="44291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rmAutofit/>
          </a:bodyPr>
          <a:lstStyle/>
          <a:p>
            <a:pPr marL="228600" indent="-114300">
              <a:spcAft>
                <a:spcPts val="800"/>
              </a:spcAft>
              <a:buChar char="•"/>
              <a:defRPr sz="138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88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 users: district disaster-management authorities, road agencies, village administrations and communities in landslide-prone terrain.</a:t>
            </a:r>
          </a:p>
          <a:p>
            <a:pPr marL="228600" indent="-114300">
              <a:spcAft>
                <a:spcPts val="800"/>
              </a:spcAft>
              <a:buChar char="•"/>
              <a:defRPr sz="138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88">
                <a:solidFill>
                  <a:srgbClr val="111111"/>
                </a:solidFill>
                <a:latin typeface="Arial"/>
                <a:ea typeface="Arial"/>
                <a:cs typeface="Arial"/>
              </a:rPr>
              <a:t>Earlier situational awareness helps authorities inspect vulnerable slopes, prepare evacuation routes and position response resources.</a:t>
            </a:r>
          </a:p>
          <a:p>
            <a:pPr marL="228600" indent="-114300">
              <a:spcAft>
                <a:spcPts val="800"/>
              </a:spcAft>
              <a:buChar char="•"/>
              <a:defRPr sz="138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88">
                <a:solidFill>
                  <a:srgbClr val="111111"/>
                </a:solidFill>
                <a:latin typeface="Arial"/>
                <a:ea typeface="Arial"/>
                <a:cs typeface="Arial"/>
              </a:rPr>
              <a:t>Risk maps support road-closure planning and prioritisation of drainage, slope stabilisation and monitoring investments.</a:t>
            </a:r>
          </a:p>
          <a:p>
            <a:pPr marL="228600" indent="-114300">
              <a:spcAft>
                <a:spcPts val="800"/>
              </a:spcAft>
              <a:buChar char="•"/>
              <a:defRPr sz="138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88">
                <a:solidFill>
                  <a:srgbClr val="111111"/>
                </a:solidFill>
                <a:latin typeface="Arial"/>
                <a:ea typeface="Arial"/>
                <a:cs typeface="Arial"/>
              </a:rPr>
              <a:t>An explainable probability model shows which terrain and rainfall factors raised the warning, supporting transparent decisions.</a:t>
            </a:r>
          </a:p>
          <a:p>
            <a:pPr marL="228600" indent="-114300">
              <a:spcAft>
                <a:spcPts val="800"/>
              </a:spcAft>
              <a:buChar char="•"/>
              <a:defRPr sz="138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88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Open-source implementation lowers prototype cost and allows gradual expansion as improved inventories and real-time feeds become available.</a:t>
            </a:r>
          </a:p>
          <a:p>
            <a:pPr marL="228600" indent="-114300">
              <a:spcAft>
                <a:spcPts val="800"/>
              </a:spcAft>
              <a:buChar char="•"/>
              <a:defRPr sz="138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88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Expected environmental benefit: targeted intervention can reduce unnecessary construction and disturbance in lower-risk areas.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9493-025B-4D99-9519-A0EB35064B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24A015-8A8C-443C-A4A1-F04DEF1597A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>
              <a:buNone/>
              <a:defRPr sz="900" b="1">
                <a:latin typeface="Arial"/>
                <a:ea typeface="Arial"/>
                <a:cs typeface="Arial"/>
              </a:defRPr>
            </a:pPr>
            <a:r>
              <a:rPr sz="900" b="1">
                <a:latin typeface="Arial"/>
                <a:ea typeface="Arial"/>
                <a:cs typeface="Arial"/>
              </a:rPr>
              <a:t>SERGIO</a:t>
            </a:r>
            <a:endParaRPr/>
          </a:p>
        </p:txBody>
      </p:sp>
      <p:pic>
        <p:nvPicPr>
          <p:cNvPr id="17419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20" name="Picture 174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14325" y="215900"/>
            <a:ext cx="12954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CC53A017-E34F-4611-A7EB-C9AF534B9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37D13BA3-66EB-461C-8563-8EF9CD4FBF7D}"/>
              </a:ext>
            </a:extLst>
          </p:cNvPr>
          <p:cNvSpPr>
            <a:spLocks noGrp="1"/>
          </p:cNvSpPr>
          <p:nvPr/>
        </p:nvSpPr>
        <p:spPr>
          <a:xfrm>
            <a:off x="523875" y="1381125"/>
            <a:ext cx="11096625" cy="47625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rmAutofit/>
          </a:bodyPr>
          <a:lstStyle/>
          <a:p>
            <a:pPr marL="228600" indent="-114300">
              <a:spcAft>
                <a:spcPts val="800"/>
              </a:spcAft>
              <a:buChar char="•"/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Copernicus Data Space Ecosystem, Sentinel-2 data: https://dataspace.copernicus.eu/</a:t>
            </a:r>
          </a:p>
          <a:p>
            <a:pPr marL="228600" indent="-114300">
              <a:spcAft>
                <a:spcPts val="800"/>
              </a:spcAft>
              <a:buChar char="•"/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NASA Global Precipitation Measurement, IMERG rainfall: https://gpm.nasa.gov/data/imerg</a:t>
            </a:r>
          </a:p>
          <a:p>
            <a:pPr marL="228600" indent="-114300">
              <a:spcAft>
                <a:spcPts val="800"/>
              </a:spcAft>
              <a:buChar char="•"/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USGS SRTM 1 Arc-Second Global DEM: https://www.usgs.gov/centers/eros/science/usgs-eros-archive-digital-elevation-shuttle-radar-topography-mission-srtm-void</a:t>
            </a:r>
          </a:p>
          <a:p>
            <a:pPr marL="228600" indent="-114300">
              <a:spcAft>
                <a:spcPts val="800"/>
              </a:spcAft>
              <a:buChar char="•"/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Geological Survey of India, Bhukosh geoscientific portal: https://bhukosh.gsi.gov.in/</a:t>
            </a:r>
          </a:p>
          <a:p>
            <a:pPr marL="228600" indent="-114300">
              <a:spcAft>
                <a:spcPts val="800"/>
              </a:spcAft>
              <a:buChar char="•"/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QGIS documentation: https://docs.qgis.org/</a:t>
            </a:r>
          </a:p>
          <a:p>
            <a:pPr marL="228600" indent="-114300">
              <a:spcAft>
                <a:spcPts val="800"/>
              </a:spcAft>
              <a:buChar char="•"/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scikit-learn LogisticRegression documentation: https://scikit-learn.org/stable/modules/generated/sklearn.linear_model.LogisticRegression.html</a:t>
            </a:r>
          </a:p>
          <a:p>
            <a:pPr marL="228600" indent="-114300">
              <a:spcAft>
                <a:spcPts val="800"/>
              </a:spcAft>
              <a:buChar char="•"/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evidence to add: selected NER landslide inventory, rainfall-station source and the three annual index datasets used in the prototype.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9E4D7-0FF2-42D9-8A7A-EC4085AA9D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07B7420-B619-4AC5-8FAC-2218C7B2A78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>
              <a:buNone/>
              <a:defRPr sz="900" b="1">
                <a:latin typeface="Arial"/>
                <a:ea typeface="Arial"/>
                <a:cs typeface="Arial"/>
              </a:defRPr>
            </a:pPr>
            <a:r>
              <a:rPr sz="900" b="1">
                <a:latin typeface="Arial"/>
                <a:ea typeface="Arial"/>
                <a:cs typeface="Arial"/>
              </a:rPr>
              <a:t>SERGIO</a:t>
            </a:r>
            <a:endParaRPr/>
          </a:p>
        </p:txBody>
      </p:sp>
      <p:pic>
        <p:nvPicPr>
          <p:cNvPr id="17419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20" name="Picture 174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14325" y="215900"/>
            <a:ext cx="12954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803</Words>
  <Application>Microsoft Office PowerPoint</Application>
  <DocSecurity>0</DocSecurity>
  <PresentationFormat>Widescreen</PresentationFormat>
  <Paragraphs>64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IDEA TITLE: LANDSLIDEAI-NER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NARESH S</cp:lastModifiedBy>
  <cp:revision>2</cp:revision>
  <dcterms:created xsi:type="dcterms:W3CDTF">2026-09-14T12:46:19Z</dcterms:created>
  <dcterms:modified xsi:type="dcterms:W3CDTF">2026-09-14T15:21:15Z</dcterms:modified>
</cp:coreProperties>
</file>