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62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Editable placeholders remain for the SIH problem statement ID, team ID and registered team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F5A8-A3D4-B35A-36AD-512AC475D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54007-5C83-8986-E820-5B70F96C26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E8B16-C5BE-DD8C-54B0-9C6DF5E5E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Model design must prevent post-event information leakage and spatial leakage between neighbouring pixels.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EC9DB-375D-7193-8FC9-E6F99A4392C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05019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Model design must prevent post-event information leakage and spatial leakage between neighbouring pixels.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ct val="0"/>
              </a:spcBef>
              <a:buNone/>
            </a:pPr>
            <a:r>
              <a:t>References accessed for project design: Copernicus Data Space, NASA GPM, USGS SRTM, Geological Survey of India Bhukosh, QGIS and scikit-learn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7E1DC-A71F-4D22-B7EC-79406DC8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8147D-176F-4189-B645-470F6EED78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290D3-B856-4861-8D0D-858D0A2EBD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60792E3-D524-454C-8AFD-A91972900BCB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92F56-0AB7-44A4-BE3D-7FD99EC5C75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C86EA-C4B6-4B2A-8E74-56B8A3803D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5B7E1BAA-A38D-40DE-B22C-DF9BD7D8205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0713C-BAC8-474F-8D15-6F6AC114C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C007D-4F3C-4863-9205-EAC707C06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BCDF8-D831-406B-A8F6-BF699996B4D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08B7524-32A2-4C20-A58C-BC3BAA1042FC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C295-A9C7-42D5-A411-955CE9829EA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54266-5162-4205-9696-E0B3C499F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77C3CE7-23F7-4828-823C-E0205DF2C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FC559-7D4B-43B7-A8C8-705AF9E7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FE7CD-FAF1-4FF0-BF07-D7ECCFFBA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53B37-868C-48FF-97E7-099733D283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E994447-D6B2-43BB-A877-57F1A267B999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C16E5-3216-4CB4-BAC2-A2E11DF69FB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A7AF6-2089-47EE-A6E1-8A76E77545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41DB31D2-2A87-4F4C-A9AD-05C6CC2B321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4B889-F619-4576-B667-7209EC3E7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32277-28AC-4571-94A8-F4EE22CA7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061AB9-C91E-462D-B718-55B4C7E6076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2A08D5F-0B2D-4A58-9239-D59DD99C85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8920E16-BD35-483C-AA6B-346FC7E46DEA}" type="datetime1">
              <a:t>9/21/2026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2522C20-1144-4EC7-93B6-1EF54E0E1E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2F33575-DCF0-46C0-95A4-1FF0EF8C41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1FC16D9-1635-4844-816A-0A8A2160FAD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71BB3-A827-460E-87DC-95844EAB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6531F9-D75A-45E4-B440-B293EB0DD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0F04B7-341B-4D49-A606-2B9C1304E8E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288D45-647C-4875-A66A-672AFB0D25B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C598FB-0EC4-4636-87F4-147344BEC11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C6E60D-AD3F-4CF8-99F2-3A44BB1489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EAC6F8-5103-4FC0-A69E-5C6AE6469DA8}" type="datetime1">
              <a:t>9/21/2026</a:t>
            </a:fld>
            <a:endParaRPr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5C484C8-A45F-4150-982F-D3EF20275D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5C604E4-4541-478E-9863-E5ECBA01BB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71C4100A-98DE-4944-910A-A93F5CA9F72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83D7-96BA-40FC-8E20-2A274B2E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4B4FF57-7A9B-4B8F-AA90-696C1FC5E8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60C6921-0627-4C8F-83D5-0CF936D2FFDD}" type="datetime1">
              <a:t>9/21/2026</a:t>
            </a:fld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CF017E8-111C-46FD-8A96-0086B45FD8D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3A19C56-CEBA-4ECE-868B-16703DE21C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6A63342B-5A73-45DC-864D-086DE78037E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9B0B6B1A-9004-4767-B94B-B09C1097380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FF08AD7-8103-40F8-983C-E2BA6BB9CBE0}" type="datetime1">
              <a:t>9/21/2026</a:t>
            </a:fld>
            <a:endParaRPr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F1F19B5-8729-4EE3-9BEB-25462FF1D87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6B20F3C-6559-4E95-9403-67335C56A8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B635AFB3-1ACD-44AC-8702-86B1729DF03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9D31-9A6C-4FFB-92DD-E8D1AF920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53CE9-5CC3-4F86-9FA0-0F366134D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3504E8-B1A5-49CF-95E1-2538BE42C45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4EC18A7-0EA8-4B18-A8BC-7DAF1972E0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DF8C06B4-9380-4A4D-AF49-A3596E17DAF5}" type="datetime1">
              <a:t>9/21/2026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5C87B6F-FBA7-48CC-BA00-4A0689869E2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BFA05D2-014B-4437-B152-A8DDC78783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CF15F3-5E77-4C57-9E21-50D6D1D6C02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875DB-947C-48B4-943F-165458629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0F6C0C-FF9B-4938-940D-883D12158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buNone/>
            </a:pPr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B2A06F-6950-401F-9BEC-02F8A9F77C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F608266-3E77-426E-8188-5810EC46FEC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EF7FDEF1-C582-4E22-9E77-D68326471F28}" type="datetime1">
              <a:t>9/21/2026</a:t>
            </a:fld>
            <a:endParaRPr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33D441A-263C-47BA-990D-DB606E90A3C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326C351-FE67-4516-A4F9-167DD9C462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1242169A-B3C7-4FB6-967F-AF95F4EB331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1E00-9BB2-458F-86F5-6A51AB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4FD22F-C49F-4AD2-A860-8023C8541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15153A-8DE0-45EA-9FEA-1378F8D406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053C3A68-6922-42D3-8905-ECC2D82A3469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52E8B-7CF1-4C54-B122-BA6F8B4D699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230B0-B520-450D-BD00-43E562634A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94FDD027-5576-4F27-AAB6-1D994836EE7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6C42F40-7AAA-4195-BBAE-B633ECA95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16878E-496D-436E-A99C-0284A3454A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5083-F8C1-4C33-97E2-0C468C27DE6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CB69E9F4-7604-4950-A8B2-8ACDEDB1506E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8CCB16-E1A0-4FBB-A697-1C5504DB341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D7747-EE47-418F-987F-AFF54C120F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fld id="{2957CE61-8714-431B-A40A-01B1C5541AB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0D2729A7-4894-4178-9712-AADC8CB46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ctr"/>
          <a:lstStyle/>
          <a:p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C7AEECD-8D6B-4587-9446-D61709CCA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9C077-9E64-425F-BE43-F0CC6758D6B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780A9602-A9A9-453F-AEF1-37B5837E02CD}" type="datetime1">
              <a:t>9/21/2026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F83BE-0BE6-469A-AE9D-DD283F6ACA5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5994C-4241-4E3E-9BBD-7A7B8EC8721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anchor="ctr"/>
          <a:lstStyle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>
            <a:fld id="{1411BA53-830D-4830-BB65-E58DBE17D0B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</a:extLst>
          </p:cNvPr>
          <p:cNvSpPr>
            <a:spLocks noGrp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/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>
              <a:buNone/>
            </a:pPr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 rotWithShape="1">
          <a:blip r:embed="rId3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>
            <a:extLst>
              <a:ext uri="{FF2B5EF4-FFF2-40B4-BE49-F238E27FC236}">
                <a16:creationId xmlns:a16="http://schemas.microsoft.com/office/drawing/2014/main" id="{BFBC92D5-48C9-40E4-9C78-151A39FBE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endParaRPr lang="en-IN" b="1" dirty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buNone/>
              <a:defRPr sz="22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endParaRPr b="1" dirty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6E76840-E8FE-4D99-AEF8-E5E45843B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510" y="-448519"/>
            <a:ext cx="10363200" cy="2199370"/>
          </a:xfrm>
        </p:spPr>
        <p:txBody>
          <a:bodyPr/>
          <a:lstStyle/>
          <a:p>
            <a:r>
              <a:rPr sz="4000" b="1" dirty="0">
                <a:solidFill>
                  <a:schemeClr val="tx2"/>
                </a:solidFill>
                <a:latin typeface="Garamond"/>
                <a:ea typeface="Garamond"/>
                <a:cs typeface="Garamond"/>
              </a:rPr>
              <a:t>SMART INDIA HACKATHON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FAE82A-5B15-4C6A-B63B-53010C1D464E}"/>
              </a:ext>
            </a:extLst>
          </p:cNvPr>
          <p:cNvSpPr>
            <a:spLocks noGrp="1"/>
          </p:cNvSpPr>
          <p:nvPr/>
        </p:nvSpPr>
        <p:spPr>
          <a:xfrm>
            <a:off x="248554" y="1468608"/>
            <a:ext cx="6882088" cy="453787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28600" indent="-114300">
              <a:lnSpc>
                <a:spcPct val="15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Problem Statement ID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lang="en-IN"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SIH</a:t>
            </a:r>
            <a:r>
              <a:rPr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26008</a:t>
            </a:r>
          </a:p>
          <a:p>
            <a:pPr marL="228600" indent="-114300">
              <a:lnSpc>
                <a:spcPct val="10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Problem Statement Title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lang="en-IN" sz="2400" dirty="0">
                <a:solidFill>
                  <a:srgbClr val="11111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AI-Based early warning and landslide Risk Monitoring System in NER</a:t>
            </a:r>
          </a:p>
          <a:p>
            <a:pPr marL="228600" indent="-114300">
              <a:lnSpc>
                <a:spcPct val="10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Theme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Disaster Management</a:t>
            </a:r>
          </a:p>
          <a:p>
            <a:pPr marL="228600" indent="-114300">
              <a:lnSpc>
                <a:spcPct val="15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PS Category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Software</a:t>
            </a:r>
          </a:p>
          <a:p>
            <a:pPr marL="228600" indent="-114300">
              <a:lnSpc>
                <a:spcPct val="15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Team ID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SIH26-A0H-T114</a:t>
            </a:r>
          </a:p>
          <a:p>
            <a:pPr marL="228600" indent="-114300">
              <a:lnSpc>
                <a:spcPct val="150000"/>
              </a:lnSpc>
              <a:spcAft>
                <a:spcPts val="800"/>
              </a:spcAft>
              <a:buChar char="•"/>
              <a:defRPr sz="142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Team Name</a:t>
            </a:r>
            <a:r>
              <a:rPr lang="en-US"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-</a:t>
            </a:r>
            <a:r>
              <a:rPr sz="2400" b="1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</a:t>
            </a:r>
            <a:r>
              <a:rPr sz="2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Sergio</a:t>
            </a:r>
          </a:p>
        </p:txBody>
      </p:sp>
      <p:pic>
        <p:nvPicPr>
          <p:cNvPr id="47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110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8299C-C401-A6EA-FA94-4A9BFDE5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4C14CA2-01B9-30E3-B0D5-3B5368B6EFAF}"/>
              </a:ext>
            </a:extLst>
          </p:cNvPr>
          <p:cNvSpPr>
            <a:spLocks noGrp="1"/>
          </p:cNvSpPr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A1EFF351-7D4A-CE0E-DBC2-24436B94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PROPOSED SOLUTION</a:t>
            </a:r>
            <a:endParaRPr sz="3600" b="1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95FF25F4-8762-AFBD-0998-106ABB8FA417}"/>
              </a:ext>
            </a:extLst>
          </p:cNvPr>
          <p:cNvSpPr>
            <a:spLocks noGrp="1"/>
          </p:cNvSpPr>
          <p:nvPr/>
        </p:nvSpPr>
        <p:spPr>
          <a:xfrm>
            <a:off x="523875" y="1381125"/>
            <a:ext cx="11096625" cy="47625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rmAutofit/>
          </a:bodyPr>
          <a:lstStyle/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13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CD8D5-04F3-18AA-0C45-3120AE361E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77C3CE7-23F7-4828-823C-E0205DF2CF97}" type="slidenum">
              <a:rPr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b="1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6844297-3078-7C8C-4CD0-6CBB3324B2C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@SIH Idea submission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D708E03-C6E1-EF7F-9CA0-556E03011731}"/>
              </a:ext>
            </a:extLst>
          </p:cNvPr>
          <p:cNvSpPr>
            <a:spLocks noGrp="1"/>
          </p:cNvSpPr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None/>
              <a:defRPr sz="900" b="1">
                <a:latin typeface="Arial"/>
                <a:ea typeface="Arial"/>
                <a:cs typeface="Arial"/>
              </a:defRPr>
            </a:pPr>
            <a:r>
              <a:rPr sz="900" b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SERGIO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423" name="Picture 11">
            <a:extLst>
              <a:ext uri="{FF2B5EF4-FFF2-40B4-BE49-F238E27FC236}">
                <a16:creationId xmlns:a16="http://schemas.microsoft.com/office/drawing/2014/main" id="{378921E3-044D-8242-5605-596D3EBC2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24" name="Picture 17423">
            <a:extLst>
              <a:ext uri="{FF2B5EF4-FFF2-40B4-BE49-F238E27FC236}">
                <a16:creationId xmlns:a16="http://schemas.microsoft.com/office/drawing/2014/main" id="{622C04BA-F8DC-2092-C95C-0001458C4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14325" y="215900"/>
            <a:ext cx="1295400" cy="8636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A959CF-FDE6-48E3-DC79-5746CE6CDD0B}"/>
              </a:ext>
            </a:extLst>
          </p:cNvPr>
          <p:cNvSpPr/>
          <p:nvPr/>
        </p:nvSpPr>
        <p:spPr>
          <a:xfrm>
            <a:off x="217067" y="1094506"/>
            <a:ext cx="3708828" cy="5178751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AT HAND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Landslide Risk: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NER experiences frequent landslides due to steep slopes, intense rainfall, weak geology and land-use changes.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Limited Early Warning:</a:t>
            </a:r>
          </a:p>
          <a:p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existing maps identify susceptible areas but do not continuously monitor changing risk.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Scattered Data:</a:t>
            </a:r>
          </a:p>
          <a:p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Rainfall, terrain, satellite and historical landslide data are available separately, making rapid analysis difficult.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Risk to Communities:</a:t>
            </a:r>
          </a:p>
          <a:p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Sudden landslides threaten lives, roads, settlements and emergency access.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1F3B8E-86F9-BA9D-5146-8F782EEA6504}"/>
              </a:ext>
            </a:extLst>
          </p:cNvPr>
          <p:cNvSpPr/>
          <p:nvPr/>
        </p:nvSpPr>
        <p:spPr>
          <a:xfrm>
            <a:off x="8737601" y="1412664"/>
            <a:ext cx="3292336" cy="4883884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FEATURES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GIS Risk Map: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Displays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colour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-coded landslide-risk zones.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Rainfall Monitoring: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Uses daily, 3-day, 7-day and 15-day cumulative rainfall.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Satellite Analysis: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Uses Sentinel-2 indices such as NDVI and NDWI.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Prediction: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Estimates the probability of landslide occurrence.</a:t>
            </a:r>
          </a:p>
          <a:p>
            <a:r>
              <a:rPr lang="en-US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Early-Warning Alerts: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Provides district-level warnings to authorities and vulnerable communities.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D28FC39-7D73-5545-8FF6-5EB1951066DE}"/>
              </a:ext>
            </a:extLst>
          </p:cNvPr>
          <p:cNvSpPr/>
          <p:nvPr/>
        </p:nvSpPr>
        <p:spPr>
          <a:xfrm>
            <a:off x="4097511" y="3746090"/>
            <a:ext cx="4459257" cy="2579565"/>
          </a:xfrm>
          <a:prstGeom prst="roundRect">
            <a:avLst/>
          </a:prstGeom>
          <a:solidFill>
            <a:sysClr val="window" lastClr="FFFFFF"/>
          </a:solidFill>
          <a:ln w="9525" cap="flat" cmpd="sng" algn="ctr">
            <a:solidFill>
              <a:srgbClr val="8064A2">
                <a:lumMod val="7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lvl="0" algn="ctr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u="sng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WE STAND OUT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Monitoring: 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Updates risk using recent rainfall and soil-moisture data.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Location-Based Alerts</a:t>
            </a:r>
            <a:r>
              <a:rPr lang="en-US" sz="16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Identifies vulnerable locations instead of issuing only general regional warnings.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b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Scalable System</a:t>
            </a:r>
            <a:r>
              <a:rPr lang="en-US" sz="16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0" defTabSz="457200" fontAlgn="base">
              <a:spcBef>
                <a:spcPct val="0"/>
              </a:spcBef>
              <a:spcAft>
                <a:spcPct val="0"/>
              </a:spcAft>
            </a:pPr>
            <a:r>
              <a:rPr lang="en-US" sz="16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The pilot model can be extended across the eight NER </a:t>
            </a:r>
            <a:r>
              <a:rPr lang="en-US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states.</a:t>
            </a:r>
            <a:endParaRPr kumimoji="0" lang="en-IN" sz="1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568843-6EE7-A095-2D11-F1DE283D2E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7511" y="1306512"/>
            <a:ext cx="4459257" cy="2410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301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Grp="1"/>
          </p:cNvSpPr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>
                  <a:lumMod val="75000"/>
                </a:schemeClr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A75427BA-A21E-4758-A0ED-7789CB3F9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653B4650-A850-4CD6-AE2E-D7CB89B6020C}"/>
              </a:ext>
            </a:extLst>
          </p:cNvPr>
          <p:cNvSpPr>
            <a:spLocks noGrp="1"/>
          </p:cNvSpPr>
          <p:nvPr/>
        </p:nvSpPr>
        <p:spPr>
          <a:xfrm>
            <a:off x="329773" y="1112962"/>
            <a:ext cx="11290727" cy="5030663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Tools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: </a:t>
            </a:r>
            <a:endParaRPr lang="en-US" sz="1300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QGIS for clipping, reprojection, raster alignment and feature </a:t>
            </a:r>
            <a:r>
              <a:rPr sz="1300" dirty="0" err="1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extraction;Python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/Jupyter for modelling; scikit-learn for logistic regression.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Data: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NER boundary, landslide inventory, SRTM DEM, Sentinel-2 imagery, rainfall records,</a:t>
            </a:r>
            <a:endParaRPr lang="en-US" sz="1300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soil, geology, roads and drainage</a:t>
            </a: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,CHIRPS data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Pre-processing: 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lign CRS, extent and resolution; calculate slope, aspect,</a:t>
            </a:r>
            <a:endParaRPr lang="en-US" sz="1300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NDVI and NDWI; derive antecedent rainfall features.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Dataset: 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ach row represents one location-date pair with predictor values and Landslide = 1 or 0.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Model: 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lean and encode data, check multicollinearity, scale numerical variables,</a:t>
            </a:r>
            <a:endParaRPr lang="en-US" sz="1300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train logistic regression and calibrate probability thresholds.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Validation: 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se spatial or temporal hold-out data; report recall, specificity, F1-score, ROC-AUC and false negatives.</a:t>
            </a:r>
          </a:p>
          <a:p>
            <a:pPr marL="114300">
              <a:spcAft>
                <a:spcPts val="800"/>
              </a:spcAft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Output: </a:t>
            </a:r>
            <a:endParaRPr lang="en-US" sz="1300" b="1" dirty="0">
              <a:solidFill>
                <a:srgbClr val="FF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13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</a:t>
            </a:r>
            <a:r>
              <a:rPr sz="13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xport pixel probabilities to QGIS, classify risk zones and display alerts on a monitoring dashboard</a:t>
            </a:r>
            <a:r>
              <a:rPr sz="12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0A1F7-273A-43F9-B7AE-F1AE3B7C94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77C3CE7-23F7-4828-823C-E0205DF2CF97}" type="slidenum">
              <a:rPr b="1">
                <a:solidFill>
                  <a:schemeClr val="bg1"/>
                </a:solidFill>
              </a:rPr>
              <a:t>3</a:t>
            </a:fld>
            <a:endParaRPr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D5EFA12-399F-4E2E-B8C8-9F07918844F4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buNone/>
            </a:pPr>
            <a:r>
              <a:rPr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noGrp="1"/>
          </p:cNvSpPr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None/>
              <a:defRPr sz="900" b="1">
                <a:latin typeface="Arial"/>
                <a:ea typeface="Arial"/>
                <a:cs typeface="Arial"/>
              </a:defRPr>
            </a:pPr>
            <a:r>
              <a:rPr sz="900" b="1">
                <a:latin typeface="Arial"/>
                <a:ea typeface="Arial"/>
                <a:cs typeface="Arial"/>
              </a:rPr>
              <a:t>SERGIO</a:t>
            </a:r>
            <a:endParaRPr/>
          </a:p>
        </p:txBody>
      </p:sp>
      <p:pic>
        <p:nvPicPr>
          <p:cNvPr id="17423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24" name="Picture 1742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14325" y="215900"/>
            <a:ext cx="1295400" cy="863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772815-A99D-92D7-8222-784E4D357F0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9641"/>
          <a:stretch>
            <a:fillRect/>
          </a:stretch>
        </p:blipFill>
        <p:spPr>
          <a:xfrm>
            <a:off x="6952330" y="1908814"/>
            <a:ext cx="4984032" cy="3344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786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Grp="1"/>
          </p:cNvSpPr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25B5BBF6-58D6-4F07-BE4E-336D83B9A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ABF4BECD-DEF3-4A9E-830E-702C338468A8}"/>
              </a:ext>
            </a:extLst>
          </p:cNvPr>
          <p:cNvSpPr>
            <a:spLocks noGrp="1"/>
          </p:cNvSpPr>
          <p:nvPr/>
        </p:nvSpPr>
        <p:spPr>
          <a:xfrm>
            <a:off x="523875" y="1476375"/>
            <a:ext cx="11096625" cy="45720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rmAutofit lnSpcReduction="10000"/>
          </a:bodyPr>
          <a:lstStyle/>
          <a:p>
            <a:pPr marL="114300">
              <a:spcAft>
                <a:spcPts val="800"/>
              </a:spcAft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Technical Feasibility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Uses open-source tools such as QGIS, Python, Jupyter Notebook and scikit-learn.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Uses accessible satellite data from Sentinel-2, SRTM and satellite rainfall products.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Logistic regression requires less computing power and provides explainable predictions.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 pilot model can be developed using existing historical landslide, rainfall and terrain data.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Operational Feasibility Risk levels can be displayed through a simple QGIS </a:t>
            </a:r>
          </a:p>
          <a:p>
            <a:pPr marL="114300">
              <a:spcAft>
                <a:spcPts val="800"/>
              </a:spcAft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or web-based dashboard.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system can provide Low, Moderate, High and Very High risk categories.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District authorities can use the output for road monitoring, inspections</a:t>
            </a:r>
          </a:p>
          <a:p>
            <a:pPr marL="114300">
              <a:spcAft>
                <a:spcPts val="800"/>
              </a:spcAft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and evacuation planning.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Automated data updates can support regular or near-real-time monitoring.</a:t>
            </a:r>
          </a:p>
          <a:p>
            <a:pPr marL="114300">
              <a:spcAft>
                <a:spcPts val="800"/>
              </a:spcAft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b="1" dirty="0">
                <a:solidFill>
                  <a:srgbClr val="FF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Scalability and Viability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prototype can first be validated in one landslide-prone district or corridor.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same workflow can later be extended across the eight NER states.</a:t>
            </a:r>
          </a:p>
          <a:p>
            <a:pPr marL="4000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5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50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Additional rainfall stations, soil-moisture sensors and improved landslide inventories can be integrated later.</a:t>
            </a:r>
            <a:endParaRPr sz="1350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F8BFB-078D-408C-B1A9-227CC54377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E32265-3CF9-4650-A879-2192FF2EC9C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 dirty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</a:t>
            </a:r>
            <a:endParaRPr sz="1200" b="0" i="0" u="none" kern="1200" cap="none" spc="0" baseline="0" dirty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noGrp="1"/>
          </p:cNvSpPr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None/>
              <a:defRPr sz="900" b="1">
                <a:latin typeface="Arial"/>
                <a:ea typeface="Arial"/>
                <a:cs typeface="Arial"/>
              </a:defRPr>
            </a:pPr>
            <a:r>
              <a:rPr sz="900" b="1">
                <a:latin typeface="Arial"/>
                <a:ea typeface="Arial"/>
                <a:cs typeface="Arial"/>
              </a:rPr>
              <a:t>SERGIO</a:t>
            </a:r>
            <a:endParaRPr/>
          </a:p>
        </p:txBody>
      </p:sp>
      <p:pic>
        <p:nvPicPr>
          <p:cNvPr id="17419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20" name="Picture 174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14325" y="215900"/>
            <a:ext cx="1295400" cy="863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943EB5-70C6-6E9B-8E11-BA93C65035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52200" y="1614357"/>
            <a:ext cx="4338056" cy="3629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Grp="1"/>
          </p:cNvSpPr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F225A4D5-CF0E-40DE-9194-0668638DD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IMPACT AND BENEFITS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367874CA-4B9D-473D-9319-1E713D5D9655}"/>
              </a:ext>
            </a:extLst>
          </p:cNvPr>
          <p:cNvSpPr>
            <a:spLocks noGrp="1"/>
          </p:cNvSpPr>
          <p:nvPr/>
        </p:nvSpPr>
        <p:spPr>
          <a:xfrm>
            <a:off x="523875" y="1112963"/>
            <a:ext cx="11096625" cy="4887788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rmAutofit lnSpcReduction="10000"/>
          </a:bodyPr>
          <a:lstStyle/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Saves Lives: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Provides early risk warnings to communities and authorities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before landslide conditions become critical.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Improves Preparedness: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Supports timely evacuation, road closures and 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deployment of emergency teams.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 err="1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Enablaaes</a:t>
            </a: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Continuous Monitoring: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Combines rainfall, soil moisture, 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satellite imagery and terrain data to track changing risk.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Supports Better Decisions: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Displays clear Low, Moderate, 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High and Very High risk zones through a QGIS/web dashboard.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Cost-Effective Solution: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Uses open-source software and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freely available satellite datasets, reducing implementation costs.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Explainable Predictions: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Logistic regression provides interpretable 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results that authorities can review and validate.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Scalable Across NER: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The pilot workflow can be replicated across 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landslide-prone districts in all eight Northeastern states.</a:t>
            </a:r>
          </a:p>
          <a:p>
            <a:pPr marL="228600" indent="-114300">
              <a:spcAft>
                <a:spcPts val="800"/>
              </a:spcAft>
              <a:buChar char="•"/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b="1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Long-Term Benefit: </a:t>
            </a: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Creates a continuously improving regional</a:t>
            </a:r>
          </a:p>
          <a:p>
            <a:pPr marL="114300">
              <a:spcAft>
                <a:spcPts val="800"/>
              </a:spcAft>
              <a:defRPr sz="1388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1388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landslide database for planning, mitigation and climate resilience.</a:t>
            </a:r>
            <a:endParaRPr sz="1388" dirty="0">
              <a:solidFill>
                <a:srgbClr val="11111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9493-025B-4D99-9519-A0EB35064B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24A015-8A8C-443C-A4A1-F04DEF1597A9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 dirty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</a:t>
            </a:r>
            <a:endParaRPr sz="1200" b="0" i="0" u="none" kern="1200" cap="none" spc="0" baseline="0" dirty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noGrp="1"/>
          </p:cNvSpPr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None/>
              <a:defRPr sz="900" b="1">
                <a:latin typeface="Arial"/>
                <a:ea typeface="Arial"/>
                <a:cs typeface="Arial"/>
              </a:defRPr>
            </a:pPr>
            <a:r>
              <a:rPr sz="900" b="1">
                <a:latin typeface="Arial"/>
                <a:ea typeface="Arial"/>
                <a:cs typeface="Arial"/>
              </a:rPr>
              <a:t>SERGIO</a:t>
            </a:r>
            <a:endParaRPr/>
          </a:p>
        </p:txBody>
      </p:sp>
      <p:pic>
        <p:nvPicPr>
          <p:cNvPr id="17419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20" name="Picture 174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14325" y="215900"/>
            <a:ext cx="1295400" cy="863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7CE94E-E414-453D-01D4-3A41886866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77991" y="1649398"/>
            <a:ext cx="5377638" cy="37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Grp="1"/>
          </p:cNvSpPr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1200" cap="none" spc="0" baseline="0">
              <a:ln>
                <a:noFill/>
              </a:ln>
              <a:solidFill>
                <a:srgbClr val="C0504D">
                  <a:lumMod val="75000"/>
                </a:srgbClr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CC53A017-E34F-4611-A7EB-C9AF534B9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RESEARCH  AND REFERENCES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37D13BA3-66EB-461C-8563-8EF9CD4FBF7D}"/>
              </a:ext>
            </a:extLst>
          </p:cNvPr>
          <p:cNvSpPr>
            <a:spLocks noGrp="1"/>
          </p:cNvSpPr>
          <p:nvPr/>
        </p:nvSpPr>
        <p:spPr>
          <a:xfrm>
            <a:off x="523875" y="1381125"/>
            <a:ext cx="11096625" cy="476250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rmAutofit/>
          </a:bodyPr>
          <a:lstStyle/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Copernicus Data Space Ecosystem, Sentinel-2 data: https://dataspace.copernicus.eu/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NASA Global Precipitation Measurement, IMERG rainfall: https://gpm.nasa.gov/data/imerg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USGS SRTM 1 Arc-Second Global DEM: https://www.usgs.gov/centers/eros/science/usgs-eros-archive-digital-elevation-shuttle-radar-topography-mission-srtm-void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Geological Survey of India, </a:t>
            </a:r>
            <a:r>
              <a:rPr sz="1400" dirty="0" err="1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Bhukosh</a:t>
            </a: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 geoscientific portal: https://bhukosh.gsi.gov.in/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QGIS documentation: https://docs.qgis.org/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scikit-learn LogisticRegression documentation: https://scikit-learn.org/stable/modules/generated/sklearn.linear_model.LogisticRegression.html</a:t>
            </a:r>
          </a:p>
          <a:p>
            <a:pPr marL="228600" indent="-114300">
              <a:spcAft>
                <a:spcPts val="800"/>
              </a:spcAft>
              <a:buChar char="•"/>
              <a:defRPr sz="12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Project evidence to add: selected NER landslide inventory, rainfall-station source and the three annual index datasets used in the prototype</a:t>
            </a:r>
            <a:r>
              <a:rPr sz="1200" dirty="0">
                <a:solidFill>
                  <a:srgbClr val="11111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9E4D7-0FF2-42D9-8A7A-EC4085AA9D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sz="1200" b="1" i="0" u="none" cap="none" spc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  <a:endParaRPr sz="1200" b="1" i="0" u="none" kern="1200" cap="none" spc="0" baseline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07B7420-B619-4AC5-8FAC-2218C7B2A78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 spc="0" dirty="0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</a:t>
            </a:r>
            <a:endParaRPr sz="1200" b="0" i="0" u="none" kern="1200" cap="none" spc="0" baseline="0" dirty="0">
              <a:ln>
                <a:noFill/>
              </a:ln>
              <a:solidFill>
                <a:prstClr val="white"/>
              </a:solidFill>
              <a:latin typeface="TradeGothic"/>
              <a:ea typeface="TradeGothic"/>
              <a:cs typeface="TradeGothic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BCE864-823D-4A13-9607-5DA1F0ED5FB8}"/>
              </a:ext>
            </a:extLst>
          </p:cNvPr>
          <p:cNvSpPr>
            <a:spLocks noGrp="1"/>
          </p:cNvSpPr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algn="ctr">
              <a:buNone/>
              <a:defRPr sz="900" b="1">
                <a:latin typeface="Arial"/>
                <a:ea typeface="Arial"/>
                <a:cs typeface="Arial"/>
              </a:defRPr>
            </a:pPr>
            <a:r>
              <a:rPr sz="900" b="1">
                <a:latin typeface="Arial"/>
                <a:ea typeface="Arial"/>
                <a:cs typeface="Arial"/>
              </a:rPr>
              <a:t>SERGIO</a:t>
            </a:r>
            <a:endParaRPr/>
          </a:p>
        </p:txBody>
      </p:sp>
      <p:pic>
        <p:nvPicPr>
          <p:cNvPr id="17419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20" name="Picture 174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14325" y="215900"/>
            <a:ext cx="12954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955</Words>
  <Application>Microsoft Office PowerPoint</Application>
  <DocSecurity>0</DocSecurity>
  <PresentationFormat>Widescreen</PresentationFormat>
  <Paragraphs>113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PROPOSED SOLUTION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Visaonth Jayakumar</cp:lastModifiedBy>
  <cp:revision>4</cp:revision>
  <dcterms:created xsi:type="dcterms:W3CDTF">2026-09-14T12:46:19Z</dcterms:created>
  <dcterms:modified xsi:type="dcterms:W3CDTF">2026-09-21T12:33:12Z</dcterms:modified>
</cp:coreProperties>
</file>